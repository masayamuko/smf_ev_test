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221831" y="599740"/>
            <a:ext cx="2700338" cy="408980"/>
          </a:xfrm>
          <a:prstGeom prst="rect">
            <a:avLst/>
          </a:prstGeom>
          <a:noFill/>
          <a:ln/>
        </p:spPr>
        <p:txBody>
          <a:bodyPr wrap="none" lIns="0" tIns="0" rIns="0" bIns="0" rtlCol="0" anchor="ctr">
            <a:spAutoFit/>
          </a:bodyPr>
          <a:lstStyle/>
          <a:p>
            <a:pPr algn="ctr" indent="0" marL="0">
              <a:buNone/>
            </a:pPr>
            <a:r>
              <a:rPr lang="en-US" sz="2363" b="1" dirty="0">
                <a:solidFill>
                  <a:srgbClr val="FFFFFF"/>
                </a:solidFill>
                <a:latin typeface="Noto Sans" pitchFamily="34" charset="0"/>
                <a:ea typeface="Noto Sans" pitchFamily="34" charset="-122"/>
                <a:cs typeface="Noto Sans" pitchFamily="34" charset="-120"/>
              </a:rPr>
              <a:t>特定非営利活動法人</a:t>
            </a:r>
            <a:endParaRPr lang="en-US" sz="2363" dirty="0"/>
          </a:p>
        </p:txBody>
      </p:sp>
      <p:sp>
        <p:nvSpPr>
          <p:cNvPr id="4" name="Text 1"/>
          <p:cNvSpPr/>
          <p:nvPr/>
        </p:nvSpPr>
        <p:spPr>
          <a:xfrm>
            <a:off x="2476230" y="1019770"/>
            <a:ext cx="4191540" cy="408980"/>
          </a:xfrm>
          <a:prstGeom prst="rect">
            <a:avLst/>
          </a:prstGeom>
          <a:noFill/>
          <a:ln/>
        </p:spPr>
        <p:txBody>
          <a:bodyPr wrap="none" lIns="0" tIns="0" rIns="0" bIns="0" rtlCol="0" anchor="ctr">
            <a:spAutoFit/>
          </a:bodyPr>
          <a:lstStyle/>
          <a:p>
            <a:pPr algn="ctr" indent="0" marL="0">
              <a:buNone/>
            </a:pPr>
            <a:r>
              <a:rPr lang="en-US" sz="2363" b="1" dirty="0">
                <a:solidFill>
                  <a:srgbClr val="FFFFFF"/>
                </a:solidFill>
                <a:latin typeface="Noto Sans" pitchFamily="34" charset="0"/>
                <a:ea typeface="Noto Sans" pitchFamily="34" charset="-122"/>
                <a:cs typeface="Noto Sans" pitchFamily="34" charset="-120"/>
              </a:rPr>
              <a:t>青少年の自立を支える福岡の会</a:t>
            </a:r>
            <a:endParaRPr lang="en-US" sz="2363" dirty="0"/>
          </a:p>
        </p:txBody>
      </p:sp>
      <p:sp>
        <p:nvSpPr>
          <p:cNvPr id="5" name="Text 2"/>
          <p:cNvSpPr/>
          <p:nvPr/>
        </p:nvSpPr>
        <p:spPr>
          <a:xfrm>
            <a:off x="3714750" y="1577318"/>
            <a:ext cx="1714500" cy="257175"/>
          </a:xfrm>
          <a:prstGeom prst="rect">
            <a:avLst/>
          </a:prstGeom>
          <a:noFill/>
          <a:ln/>
        </p:spPr>
        <p:txBody>
          <a:bodyPr wrap="none" lIns="0" tIns="0" rIns="0" bIns="0" rtlCol="0" anchor="ctr">
            <a:spAutoFit/>
          </a:bodyPr>
          <a:lstStyle/>
          <a:p>
            <a:pPr algn="ctr" indent="0" marL="0">
              <a:buNone/>
            </a:pPr>
            <a:r>
              <a:rPr lang="en-US" sz="1350" b="1" dirty="0">
                <a:solidFill>
                  <a:srgbClr val="FFFFFF"/>
                </a:solidFill>
                <a:latin typeface="Noto Sans" pitchFamily="34" charset="0"/>
                <a:ea typeface="Noto Sans" pitchFamily="34" charset="-122"/>
                <a:cs typeface="Noto Sans" pitchFamily="34" charset="-120"/>
              </a:rPr>
              <a:t>ウェブサイト制作提案</a:t>
            </a:r>
            <a:endParaRPr lang="en-US" sz="1350" dirty="0"/>
          </a:p>
        </p:txBody>
      </p:sp>
      <p:pic>
        <p:nvPicPr>
          <p:cNvPr id="6" name="Image 1" descr="preencoded.png">    </p:cNvPr>
          <p:cNvPicPr>
            <a:picLocks noChangeAspect="1"/>
          </p:cNvPicPr>
          <p:nvPr/>
        </p:nvPicPr>
        <p:blipFill>
          <a:blip r:embed="rId2"/>
          <a:stretch>
            <a:fillRect/>
          </a:stretch>
        </p:blipFill>
        <p:spPr>
          <a:xfrm>
            <a:off x="2666991" y="2405993"/>
            <a:ext cx="3809991" cy="21431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050756"/>
          </a:xfrm>
          <a:prstGeom prst="rect">
            <a:avLst/>
          </a:prstGeom>
        </p:spPr>
      </p:pic>
      <p:sp>
        <p:nvSpPr>
          <p:cNvPr id="3" name="Text 0"/>
          <p:cNvSpPr/>
          <p:nvPr/>
        </p:nvSpPr>
        <p:spPr>
          <a:xfrm>
            <a:off x="285750" y="285750"/>
            <a:ext cx="8572500" cy="478631"/>
          </a:xfrm>
          <a:prstGeom prst="rect">
            <a:avLst/>
          </a:prstGeom>
          <a:noFill/>
          <a:ln/>
        </p:spPr>
        <p:txBody>
          <a:bodyPr wrap="none" lIns="0" tIns="0" rIns="0" bIns="85090" rtlCol="0" anchor="ctr">
            <a:spAutoFit/>
          </a:bodyPr>
          <a:lstStyle/>
          <a:p>
            <a:pPr indent="0" marL="0">
              <a:buNone/>
            </a:pPr>
            <a:r>
              <a:rPr lang="en-US" sz="2025" b="1" dirty="0">
                <a:solidFill>
                  <a:srgbClr val="4682B4"/>
                </a:solidFill>
                <a:latin typeface="Noto Sans" pitchFamily="34" charset="0"/>
                <a:ea typeface="Noto Sans" pitchFamily="34" charset="-122"/>
                <a:cs typeface="Noto Sans" pitchFamily="34" charset="-120"/>
              </a:rPr>
              <a:t>現状分析</a:t>
            </a:r>
            <a:endParaRPr lang="en-US" sz="2025" dirty="0"/>
          </a:p>
        </p:txBody>
      </p:sp>
      <p:sp>
        <p:nvSpPr>
          <p:cNvPr id="4" name="Text 1"/>
          <p:cNvSpPr/>
          <p:nvPr/>
        </p:nvSpPr>
        <p:spPr>
          <a:xfrm>
            <a:off x="285750" y="957263"/>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現行ウェブサイトの状況</a:t>
            </a:r>
            <a:endParaRPr lang="en-US" sz="1350" dirty="0"/>
          </a:p>
        </p:txBody>
      </p:sp>
      <p:sp>
        <p:nvSpPr>
          <p:cNvPr id="5" name="Shape 2"/>
          <p:cNvSpPr/>
          <p:nvPr/>
        </p:nvSpPr>
        <p:spPr>
          <a:xfrm>
            <a:off x="285750" y="1321594"/>
            <a:ext cx="4114800" cy="1535906"/>
          </a:xfrm>
          <a:prstGeom prst="rect">
            <a:avLst/>
          </a:prstGeom>
          <a:solidFill>
            <a:srgbClr val="FFFFFF"/>
          </a:solidFill>
          <a:ln/>
        </p:spPr>
      </p:sp>
      <p:sp>
        <p:nvSpPr>
          <p:cNvPr id="6" name="Text 3"/>
          <p:cNvSpPr/>
          <p:nvPr/>
        </p:nvSpPr>
        <p:spPr>
          <a:xfrm>
            <a:off x="571500" y="1473398"/>
            <a:ext cx="1153437" cy="175022"/>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各自立援助ホームが</a:t>
            </a:r>
            <a:endParaRPr lang="en-US" sz="942" dirty="0"/>
          </a:p>
        </p:txBody>
      </p:sp>
      <p:sp>
        <p:nvSpPr>
          <p:cNvPr id="7" name="Text 4"/>
          <p:cNvSpPr/>
          <p:nvPr/>
        </p:nvSpPr>
        <p:spPr>
          <a:xfrm>
            <a:off x="1724937" y="1473398"/>
            <a:ext cx="1123857" cy="175022"/>
          </a:xfrm>
          <a:prstGeom prst="rect">
            <a:avLst/>
          </a:prstGeom>
          <a:noFill/>
          <a:ln/>
        </p:spPr>
        <p:txBody>
          <a:bodyPr wrap="none" lIns="0" tIns="0" rIns="0" bIns="0" rtlCol="0" anchor="ctr">
            <a:spAutoFit/>
          </a:bodyPr>
          <a:lstStyle/>
          <a:p>
            <a:pPr algn="l" indent="0" marL="0">
              <a:buNone/>
            </a:pPr>
            <a:r>
              <a:rPr lang="en-US" sz="942" b="1" dirty="0">
                <a:solidFill>
                  <a:srgbClr val="FF6347"/>
                </a:solidFill>
                <a:latin typeface="Noto Sans" pitchFamily="34" charset="0"/>
                <a:ea typeface="Noto Sans" pitchFamily="34" charset="-122"/>
                <a:cs typeface="Noto Sans" pitchFamily="34" charset="-120"/>
              </a:rPr>
              <a:t>個別のJimdoサイト</a:t>
            </a:r>
            <a:endParaRPr lang="en-US" sz="942" dirty="0"/>
          </a:p>
        </p:txBody>
      </p:sp>
      <p:sp>
        <p:nvSpPr>
          <p:cNvPr id="8" name="Text 5"/>
          <p:cNvSpPr/>
          <p:nvPr/>
        </p:nvSpPr>
        <p:spPr>
          <a:xfrm>
            <a:off x="2848794" y="1473398"/>
            <a:ext cx="385790" cy="175022"/>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を運営</a:t>
            </a:r>
            <a:endParaRPr lang="en-US" sz="942" dirty="0"/>
          </a:p>
        </p:txBody>
      </p:sp>
      <p:sp>
        <p:nvSpPr>
          <p:cNvPr id="9" name="Text 6"/>
          <p:cNvSpPr/>
          <p:nvPr/>
        </p:nvSpPr>
        <p:spPr>
          <a:xfrm>
            <a:off x="571500" y="1737717"/>
            <a:ext cx="642965" cy="175022"/>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法人全体の</a:t>
            </a:r>
            <a:endParaRPr lang="en-US" sz="942" dirty="0"/>
          </a:p>
        </p:txBody>
      </p:sp>
      <p:sp>
        <p:nvSpPr>
          <p:cNvPr id="10" name="Text 7"/>
          <p:cNvSpPr/>
          <p:nvPr/>
        </p:nvSpPr>
        <p:spPr>
          <a:xfrm>
            <a:off x="1214465" y="1737717"/>
            <a:ext cx="1414490" cy="175022"/>
          </a:xfrm>
          <a:prstGeom prst="rect">
            <a:avLst/>
          </a:prstGeom>
          <a:noFill/>
          <a:ln/>
        </p:spPr>
        <p:txBody>
          <a:bodyPr wrap="none" lIns="0" tIns="0" rIns="0" bIns="0" rtlCol="0" anchor="ctr">
            <a:spAutoFit/>
          </a:bodyPr>
          <a:lstStyle/>
          <a:p>
            <a:pPr algn="l" indent="0" marL="0">
              <a:buNone/>
            </a:pPr>
            <a:r>
              <a:rPr lang="en-US" sz="942" b="1" dirty="0">
                <a:solidFill>
                  <a:srgbClr val="FF6347"/>
                </a:solidFill>
                <a:latin typeface="Noto Sans" pitchFamily="34" charset="0"/>
                <a:ea typeface="Noto Sans" pitchFamily="34" charset="-122"/>
                <a:cs typeface="Noto Sans" pitchFamily="34" charset="-120"/>
              </a:rPr>
              <a:t>公式サイトが存在しない</a:t>
            </a:r>
            <a:endParaRPr lang="en-US" sz="942" dirty="0"/>
          </a:p>
        </p:txBody>
      </p:sp>
      <p:sp>
        <p:nvSpPr>
          <p:cNvPr id="11" name="Text 8"/>
          <p:cNvSpPr/>
          <p:nvPr/>
        </p:nvSpPr>
        <p:spPr>
          <a:xfrm>
            <a:off x="571500" y="1993106"/>
            <a:ext cx="3686175" cy="385763"/>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5つのホーム（かんらん舎、結ホーム、LEAP、スイッチ、TIES）の情報が分散</a:t>
            </a:r>
            <a:endParaRPr lang="en-US" sz="942" dirty="0"/>
          </a:p>
        </p:txBody>
      </p:sp>
      <p:sp>
        <p:nvSpPr>
          <p:cNvPr id="12" name="Text 9"/>
          <p:cNvSpPr/>
          <p:nvPr/>
        </p:nvSpPr>
        <p:spPr>
          <a:xfrm>
            <a:off x="571500" y="2459236"/>
            <a:ext cx="1500104" cy="175022"/>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無料版Jimdoの制約により</a:t>
            </a:r>
            <a:endParaRPr lang="en-US" sz="942" dirty="0"/>
          </a:p>
        </p:txBody>
      </p:sp>
      <p:sp>
        <p:nvSpPr>
          <p:cNvPr id="13" name="Text 10"/>
          <p:cNvSpPr/>
          <p:nvPr/>
        </p:nvSpPr>
        <p:spPr>
          <a:xfrm>
            <a:off x="2071604" y="2459236"/>
            <a:ext cx="771553" cy="175022"/>
          </a:xfrm>
          <a:prstGeom prst="rect">
            <a:avLst/>
          </a:prstGeom>
          <a:noFill/>
          <a:ln/>
        </p:spPr>
        <p:txBody>
          <a:bodyPr wrap="none" lIns="0" tIns="0" rIns="0" bIns="0" rtlCol="0" anchor="ctr">
            <a:spAutoFit/>
          </a:bodyPr>
          <a:lstStyle/>
          <a:p>
            <a:pPr algn="l" indent="0" marL="0">
              <a:buNone/>
            </a:pPr>
            <a:r>
              <a:rPr lang="en-US" sz="942" b="1" dirty="0">
                <a:solidFill>
                  <a:srgbClr val="FF6347"/>
                </a:solidFill>
                <a:latin typeface="Noto Sans" pitchFamily="34" charset="0"/>
                <a:ea typeface="Noto Sans" pitchFamily="34" charset="-122"/>
                <a:cs typeface="Noto Sans" pitchFamily="34" charset="-120"/>
              </a:rPr>
              <a:t>機能が限定的</a:t>
            </a:r>
            <a:endParaRPr lang="en-US" sz="942" dirty="0"/>
          </a:p>
        </p:txBody>
      </p:sp>
      <p:sp>
        <p:nvSpPr>
          <p:cNvPr id="14" name="Text 11"/>
          <p:cNvSpPr/>
          <p:nvPr/>
        </p:nvSpPr>
        <p:spPr>
          <a:xfrm>
            <a:off x="285750" y="3000375"/>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競合分析</a:t>
            </a:r>
            <a:endParaRPr lang="en-US" sz="1350" dirty="0"/>
          </a:p>
        </p:txBody>
      </p:sp>
      <p:sp>
        <p:nvSpPr>
          <p:cNvPr id="15" name="Shape 12"/>
          <p:cNvSpPr/>
          <p:nvPr/>
        </p:nvSpPr>
        <p:spPr>
          <a:xfrm>
            <a:off x="285750" y="3364706"/>
            <a:ext cx="4114800" cy="1343025"/>
          </a:xfrm>
          <a:prstGeom prst="rect">
            <a:avLst/>
          </a:prstGeom>
          <a:solidFill>
            <a:srgbClr val="FFFFFF"/>
          </a:solidFill>
          <a:ln/>
        </p:spPr>
      </p:sp>
      <p:sp>
        <p:nvSpPr>
          <p:cNvPr id="16" name="Text 13"/>
          <p:cNvSpPr/>
          <p:nvPr/>
        </p:nvSpPr>
        <p:spPr>
          <a:xfrm>
            <a:off x="571500" y="3507581"/>
            <a:ext cx="3686175" cy="192881"/>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他団体は統一されたブランドイメージを構築</a:t>
            </a:r>
            <a:endParaRPr lang="en-US" sz="942" dirty="0"/>
          </a:p>
        </p:txBody>
      </p:sp>
      <p:sp>
        <p:nvSpPr>
          <p:cNvPr id="17" name="Text 14"/>
          <p:cNvSpPr/>
          <p:nvPr/>
        </p:nvSpPr>
        <p:spPr>
          <a:xfrm>
            <a:off x="571500" y="3771900"/>
            <a:ext cx="3686175" cy="192881"/>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寄付や支援方法が分かりやすく提示</a:t>
            </a:r>
            <a:endParaRPr lang="en-US" sz="942" dirty="0"/>
          </a:p>
        </p:txBody>
      </p:sp>
      <p:sp>
        <p:nvSpPr>
          <p:cNvPr id="18" name="Text 15"/>
          <p:cNvSpPr/>
          <p:nvPr/>
        </p:nvSpPr>
        <p:spPr>
          <a:xfrm>
            <a:off x="571500" y="4036219"/>
            <a:ext cx="3686175" cy="192881"/>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活動内容が具体的な数字やストーリーで伝達</a:t>
            </a:r>
            <a:endParaRPr lang="en-US" sz="942" dirty="0"/>
          </a:p>
        </p:txBody>
      </p:sp>
      <p:sp>
        <p:nvSpPr>
          <p:cNvPr id="19" name="Text 16"/>
          <p:cNvSpPr/>
          <p:nvPr/>
        </p:nvSpPr>
        <p:spPr>
          <a:xfrm>
            <a:off x="571500" y="4300538"/>
            <a:ext cx="3686175" cy="192881"/>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モバイル対応を含む優れたユーザー体験</a:t>
            </a:r>
            <a:endParaRPr lang="en-US" sz="942" dirty="0"/>
          </a:p>
        </p:txBody>
      </p:sp>
      <p:sp>
        <p:nvSpPr>
          <p:cNvPr id="20" name="Text 17"/>
          <p:cNvSpPr/>
          <p:nvPr/>
        </p:nvSpPr>
        <p:spPr>
          <a:xfrm>
            <a:off x="4743450" y="957263"/>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課題点</a:t>
            </a:r>
            <a:endParaRPr lang="en-US" sz="1350" dirty="0"/>
          </a:p>
        </p:txBody>
      </p:sp>
      <p:sp>
        <p:nvSpPr>
          <p:cNvPr id="21" name="Shape 18"/>
          <p:cNvSpPr/>
          <p:nvPr/>
        </p:nvSpPr>
        <p:spPr>
          <a:xfrm>
            <a:off x="4743450" y="1321594"/>
            <a:ext cx="4114800" cy="2857500"/>
          </a:xfrm>
          <a:prstGeom prst="rect">
            <a:avLst/>
          </a:prstGeom>
          <a:solidFill>
            <a:srgbClr val="FFFFFF"/>
          </a:solidFill>
          <a:ln/>
        </p:spPr>
      </p:sp>
      <p:pic>
        <p:nvPicPr>
          <p:cNvPr id="22" name="Image 1" descr="preencoded.png">    </p:cNvPr>
          <p:cNvPicPr>
            <a:picLocks noChangeAspect="1"/>
          </p:cNvPicPr>
          <p:nvPr/>
        </p:nvPicPr>
        <p:blipFill>
          <a:blip r:embed="rId2"/>
          <a:stretch>
            <a:fillRect/>
          </a:stretch>
        </p:blipFill>
        <p:spPr>
          <a:xfrm>
            <a:off x="4886325" y="1464469"/>
            <a:ext cx="3829050" cy="2500313"/>
          </a:xfrm>
          <a:prstGeom prst="rect">
            <a:avLst/>
          </a:prstGeom>
        </p:spPr>
      </p:pic>
      <p:sp>
        <p:nvSpPr>
          <p:cNvPr id="23" name="Shape 19"/>
          <p:cNvSpPr/>
          <p:nvPr/>
        </p:nvSpPr>
        <p:spPr>
          <a:xfrm>
            <a:off x="4743450" y="4321969"/>
            <a:ext cx="4114800" cy="1278731"/>
          </a:xfrm>
          <a:prstGeom prst="rect">
            <a:avLst/>
          </a:prstGeom>
          <a:solidFill>
            <a:srgbClr val="FFFFFF"/>
          </a:solidFill>
          <a:ln/>
        </p:spPr>
      </p:sp>
      <p:sp>
        <p:nvSpPr>
          <p:cNvPr id="24" name="Text 20"/>
          <p:cNvSpPr/>
          <p:nvPr/>
        </p:nvSpPr>
        <p:spPr>
          <a:xfrm>
            <a:off x="4886325" y="4464844"/>
            <a:ext cx="3829050" cy="200025"/>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現行サイトの主な問題点：</a:t>
            </a:r>
            <a:endParaRPr lang="en-US" sz="942" dirty="0"/>
          </a:p>
        </p:txBody>
      </p:sp>
      <p:sp>
        <p:nvSpPr>
          <p:cNvPr id="25" name="Text 21"/>
          <p:cNvSpPr/>
          <p:nvPr/>
        </p:nvSpPr>
        <p:spPr>
          <a:xfrm>
            <a:off x="5029200" y="4673798"/>
            <a:ext cx="642965" cy="175022"/>
          </a:xfrm>
          <a:prstGeom prst="rect">
            <a:avLst/>
          </a:prstGeom>
          <a:noFill/>
          <a:ln/>
        </p:spPr>
        <p:txBody>
          <a:bodyPr wrap="none" lIns="0" tIns="0" rIns="0" bIns="0" rtlCol="0" anchor="ctr">
            <a:spAutoFit/>
          </a:bodyPr>
          <a:lstStyle/>
          <a:p>
            <a:pPr algn="l" indent="0" marL="0">
              <a:buNone/>
            </a:pPr>
            <a:r>
              <a:rPr lang="en-US" sz="942" b="1" dirty="0">
                <a:solidFill>
                  <a:srgbClr val="FF6347"/>
                </a:solidFill>
                <a:latin typeface="Noto Sans" pitchFamily="34" charset="0"/>
                <a:ea typeface="Noto Sans" pitchFamily="34" charset="-122"/>
                <a:cs typeface="Noto Sans" pitchFamily="34" charset="-120"/>
              </a:rPr>
              <a:t>情報の分散</a:t>
            </a:r>
            <a:endParaRPr lang="en-US" sz="942" dirty="0"/>
          </a:p>
        </p:txBody>
      </p:sp>
      <p:sp>
        <p:nvSpPr>
          <p:cNvPr id="26" name="Text 22"/>
          <p:cNvSpPr/>
          <p:nvPr/>
        </p:nvSpPr>
        <p:spPr>
          <a:xfrm>
            <a:off x="5672165" y="4673798"/>
            <a:ext cx="1153437" cy="175022"/>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による一貫性の欠如</a:t>
            </a:r>
            <a:endParaRPr lang="en-US" sz="942" dirty="0"/>
          </a:p>
        </p:txBody>
      </p:sp>
      <p:sp>
        <p:nvSpPr>
          <p:cNvPr id="27" name="Text 23"/>
          <p:cNvSpPr/>
          <p:nvPr/>
        </p:nvSpPr>
        <p:spPr>
          <a:xfrm>
            <a:off x="5029200" y="4938117"/>
            <a:ext cx="1028728" cy="175022"/>
          </a:xfrm>
          <a:prstGeom prst="rect">
            <a:avLst/>
          </a:prstGeom>
          <a:noFill/>
          <a:ln/>
        </p:spPr>
        <p:txBody>
          <a:bodyPr wrap="none" lIns="0" tIns="0" rIns="0" bIns="0" rtlCol="0" anchor="ctr">
            <a:spAutoFit/>
          </a:bodyPr>
          <a:lstStyle/>
          <a:p>
            <a:pPr algn="l" indent="0" marL="0">
              <a:buNone/>
            </a:pPr>
            <a:r>
              <a:rPr lang="en-US" sz="942" b="1" dirty="0">
                <a:solidFill>
                  <a:srgbClr val="FF6347"/>
                </a:solidFill>
                <a:latin typeface="Noto Sans" pitchFamily="34" charset="0"/>
                <a:ea typeface="Noto Sans" pitchFamily="34" charset="-122"/>
                <a:cs typeface="Noto Sans" pitchFamily="34" charset="-120"/>
              </a:rPr>
              <a:t>デザインの不統一</a:t>
            </a:r>
            <a:endParaRPr lang="en-US" sz="942" dirty="0"/>
          </a:p>
        </p:txBody>
      </p:sp>
      <p:sp>
        <p:nvSpPr>
          <p:cNvPr id="28" name="Text 24"/>
          <p:cNvSpPr/>
          <p:nvPr/>
        </p:nvSpPr>
        <p:spPr>
          <a:xfrm>
            <a:off x="6057928" y="4938117"/>
            <a:ext cx="1539199" cy="175022"/>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によるブランド認知の低下</a:t>
            </a:r>
            <a:endParaRPr lang="en-US" sz="942" dirty="0"/>
          </a:p>
        </p:txBody>
      </p:sp>
      <p:sp>
        <p:nvSpPr>
          <p:cNvPr id="29" name="Text 25"/>
          <p:cNvSpPr/>
          <p:nvPr/>
        </p:nvSpPr>
        <p:spPr>
          <a:xfrm>
            <a:off x="5029200" y="5202436"/>
            <a:ext cx="1203080" cy="175022"/>
          </a:xfrm>
          <a:prstGeom prst="rect">
            <a:avLst/>
          </a:prstGeom>
          <a:noFill/>
          <a:ln/>
        </p:spPr>
        <p:txBody>
          <a:bodyPr wrap="none" lIns="0" tIns="0" rIns="0" bIns="0" rtlCol="0" anchor="ctr">
            <a:spAutoFit/>
          </a:bodyPr>
          <a:lstStyle/>
          <a:p>
            <a:pPr algn="l" indent="0" marL="0">
              <a:buNone/>
            </a:pPr>
            <a:r>
              <a:rPr lang="en-US" sz="942" b="1" dirty="0">
                <a:solidFill>
                  <a:srgbClr val="FF6347"/>
                </a:solidFill>
                <a:latin typeface="Noto Sans" pitchFamily="34" charset="0"/>
                <a:ea typeface="Noto Sans" pitchFamily="34" charset="-122"/>
                <a:cs typeface="Noto Sans" pitchFamily="34" charset="-120"/>
              </a:rPr>
              <a:t>求人・寄付情報の不足</a:t>
            </a:r>
            <a:endParaRPr lang="en-US" sz="942" dirty="0"/>
          </a:p>
        </p:txBody>
      </p:sp>
      <p:sp>
        <p:nvSpPr>
          <p:cNvPr id="30" name="Text 26"/>
          <p:cNvSpPr/>
          <p:nvPr/>
        </p:nvSpPr>
        <p:spPr>
          <a:xfrm>
            <a:off x="6232280" y="5202436"/>
            <a:ext cx="896262" cy="175022"/>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による機会損失</a:t>
            </a:r>
            <a:endParaRPr lang="en-US" sz="94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257925"/>
          </a:xfrm>
          <a:prstGeom prst="rect">
            <a:avLst/>
          </a:prstGeom>
        </p:spPr>
      </p:pic>
      <p:sp>
        <p:nvSpPr>
          <p:cNvPr id="3" name="Text 0"/>
          <p:cNvSpPr/>
          <p:nvPr/>
        </p:nvSpPr>
        <p:spPr>
          <a:xfrm>
            <a:off x="285750" y="285750"/>
            <a:ext cx="8572500" cy="478631"/>
          </a:xfrm>
          <a:prstGeom prst="rect">
            <a:avLst/>
          </a:prstGeom>
          <a:noFill/>
          <a:ln/>
        </p:spPr>
        <p:txBody>
          <a:bodyPr wrap="none" lIns="0" tIns="0" rIns="0" bIns="85090" rtlCol="0" anchor="ctr">
            <a:spAutoFit/>
          </a:bodyPr>
          <a:lstStyle/>
          <a:p>
            <a:pPr indent="0" marL="0">
              <a:buNone/>
            </a:pPr>
            <a:r>
              <a:rPr lang="en-US" sz="2025" b="1" dirty="0">
                <a:solidFill>
                  <a:srgbClr val="4682B4"/>
                </a:solidFill>
                <a:latin typeface="Noto Sans" pitchFamily="34" charset="0"/>
                <a:ea typeface="Noto Sans" pitchFamily="34" charset="-122"/>
                <a:cs typeface="Noto Sans" pitchFamily="34" charset="-120"/>
              </a:rPr>
              <a:t>提案概要</a:t>
            </a:r>
            <a:endParaRPr lang="en-US" sz="2025" dirty="0"/>
          </a:p>
        </p:txBody>
      </p:sp>
      <p:sp>
        <p:nvSpPr>
          <p:cNvPr id="4" name="Text 1"/>
          <p:cNvSpPr/>
          <p:nvPr/>
        </p:nvSpPr>
        <p:spPr>
          <a:xfrm>
            <a:off x="285750" y="957263"/>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提案の方向性</a:t>
            </a:r>
            <a:endParaRPr lang="en-US" sz="1350" dirty="0"/>
          </a:p>
        </p:txBody>
      </p:sp>
      <p:sp>
        <p:nvSpPr>
          <p:cNvPr id="5" name="Shape 2"/>
          <p:cNvSpPr/>
          <p:nvPr/>
        </p:nvSpPr>
        <p:spPr>
          <a:xfrm>
            <a:off x="285750" y="1321594"/>
            <a:ext cx="4114800" cy="3228975"/>
          </a:xfrm>
          <a:prstGeom prst="rect">
            <a:avLst/>
          </a:prstGeom>
          <a:solidFill>
            <a:srgbClr val="FFFFFF"/>
          </a:solidFill>
          <a:ln/>
        </p:spPr>
      </p:sp>
      <p:sp>
        <p:nvSpPr>
          <p:cNvPr id="6" name="Shape 3"/>
          <p:cNvSpPr/>
          <p:nvPr/>
        </p:nvSpPr>
        <p:spPr>
          <a:xfrm>
            <a:off x="428625" y="1464469"/>
            <a:ext cx="285750" cy="285750"/>
          </a:xfrm>
          <a:prstGeom prst="ellipse">
            <a:avLst/>
          </a:prstGeom>
          <a:solidFill>
            <a:srgbClr val="4682B4"/>
          </a:solidFill>
          <a:ln/>
        </p:spPr>
      </p:sp>
      <p:pic>
        <p:nvPicPr>
          <p:cNvPr id="7" name="Image 1" descr="preencoded.png">    </p:cNvPr>
          <p:cNvPicPr>
            <a:picLocks noChangeAspect="1"/>
          </p:cNvPicPr>
          <p:nvPr/>
        </p:nvPicPr>
        <p:blipFill>
          <a:blip r:embed="rId2"/>
          <a:stretch>
            <a:fillRect/>
          </a:stretch>
        </p:blipFill>
        <p:spPr>
          <a:xfrm>
            <a:off x="514350" y="1550194"/>
            <a:ext cx="114300" cy="114300"/>
          </a:xfrm>
          <a:prstGeom prst="rect">
            <a:avLst/>
          </a:prstGeom>
        </p:spPr>
      </p:pic>
      <p:sp>
        <p:nvSpPr>
          <p:cNvPr id="8" name="Text 4"/>
          <p:cNvSpPr/>
          <p:nvPr/>
        </p:nvSpPr>
        <p:spPr>
          <a:xfrm>
            <a:off x="821531" y="1464469"/>
            <a:ext cx="3436144" cy="214313"/>
          </a:xfrm>
          <a:prstGeom prst="rect">
            <a:avLst/>
          </a:prstGeom>
          <a:noFill/>
          <a:ln/>
        </p:spPr>
        <p:txBody>
          <a:bodyPr wrap="none" lIns="0" tIns="0" rIns="0" bIns="0" rtlCol="0" anchor="ctr">
            <a:spAutoFit/>
          </a:bodyPr>
          <a:lstStyle/>
          <a:p>
            <a:pPr indent="0" marL="0">
              <a:buNone/>
            </a:pPr>
            <a:r>
              <a:rPr lang="en-US" sz="1046" b="1" dirty="0">
                <a:solidFill>
                  <a:srgbClr val="333333"/>
                </a:solidFill>
                <a:latin typeface="Noto Sans" pitchFamily="34" charset="0"/>
                <a:ea typeface="Noto Sans" pitchFamily="34" charset="-122"/>
                <a:cs typeface="Noto Sans" pitchFamily="34" charset="-120"/>
              </a:rPr>
              <a:t>統一されたブランド構築</a:t>
            </a:r>
            <a:endParaRPr lang="en-US" sz="1046" dirty="0"/>
          </a:p>
        </p:txBody>
      </p:sp>
      <p:sp>
        <p:nvSpPr>
          <p:cNvPr id="9" name="Text 5"/>
          <p:cNvSpPr/>
          <p:nvPr/>
        </p:nvSpPr>
        <p:spPr>
          <a:xfrm>
            <a:off x="821531" y="1721644"/>
            <a:ext cx="2622063" cy="155377"/>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法人全体の統一感のあるデザインとメッセージで、</a:t>
            </a:r>
            <a:endParaRPr lang="en-US" sz="837" dirty="0"/>
          </a:p>
        </p:txBody>
      </p:sp>
      <p:sp>
        <p:nvSpPr>
          <p:cNvPr id="10" name="Text 6"/>
          <p:cNvSpPr/>
          <p:nvPr/>
        </p:nvSpPr>
        <p:spPr>
          <a:xfrm>
            <a:off x="3443594" y="1721644"/>
            <a:ext cx="800100" cy="155377"/>
          </a:xfrm>
          <a:prstGeom prst="rect">
            <a:avLst/>
          </a:prstGeom>
          <a:noFill/>
          <a:ln/>
        </p:spPr>
        <p:txBody>
          <a:bodyPr wrap="none" lIns="0" tIns="0" rIns="0" bIns="0" rtlCol="0" anchor="ctr">
            <a:spAutoFit/>
          </a:bodyPr>
          <a:lstStyle/>
          <a:p>
            <a:pPr indent="0" marL="0">
              <a:buNone/>
            </a:pPr>
            <a:r>
              <a:rPr lang="en-US" sz="837" b="1" dirty="0">
                <a:solidFill>
                  <a:srgbClr val="FF6347"/>
                </a:solidFill>
                <a:latin typeface="Noto Sans" pitchFamily="34" charset="0"/>
                <a:ea typeface="Noto Sans" pitchFamily="34" charset="-122"/>
                <a:cs typeface="Noto Sans" pitchFamily="34" charset="-120"/>
              </a:rPr>
              <a:t>一貫したブラン</a:t>
            </a:r>
            <a:endParaRPr lang="en-US" sz="837" dirty="0"/>
          </a:p>
        </p:txBody>
      </p:sp>
      <p:sp>
        <p:nvSpPr>
          <p:cNvPr id="11" name="Text 7"/>
          <p:cNvSpPr/>
          <p:nvPr/>
        </p:nvSpPr>
        <p:spPr>
          <a:xfrm>
            <a:off x="821531" y="1893094"/>
            <a:ext cx="569240" cy="155377"/>
          </a:xfrm>
          <a:prstGeom prst="rect">
            <a:avLst/>
          </a:prstGeom>
          <a:noFill/>
          <a:ln/>
        </p:spPr>
        <p:txBody>
          <a:bodyPr wrap="none" lIns="0" tIns="0" rIns="0" bIns="0" rtlCol="0" anchor="ctr">
            <a:spAutoFit/>
          </a:bodyPr>
          <a:lstStyle/>
          <a:p>
            <a:pPr indent="0" marL="0">
              <a:buNone/>
            </a:pPr>
            <a:r>
              <a:rPr lang="en-US" sz="837" b="1" dirty="0">
                <a:solidFill>
                  <a:srgbClr val="FF6347"/>
                </a:solidFill>
                <a:latin typeface="Noto Sans" pitchFamily="34" charset="0"/>
                <a:ea typeface="Noto Sans" pitchFamily="34" charset="-122"/>
                <a:cs typeface="Noto Sans" pitchFamily="34" charset="-120"/>
              </a:rPr>
              <a:t>ドイメージ</a:t>
            </a:r>
            <a:endParaRPr lang="en-US" sz="837" dirty="0"/>
          </a:p>
        </p:txBody>
      </p:sp>
      <p:sp>
        <p:nvSpPr>
          <p:cNvPr id="12" name="Text 8"/>
          <p:cNvSpPr/>
          <p:nvPr/>
        </p:nvSpPr>
        <p:spPr>
          <a:xfrm>
            <a:off x="1390771" y="1893094"/>
            <a:ext cx="788687" cy="155377"/>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を形成します。</a:t>
            </a:r>
            <a:endParaRPr lang="en-US" sz="837" dirty="0"/>
          </a:p>
        </p:txBody>
      </p:sp>
      <p:sp>
        <p:nvSpPr>
          <p:cNvPr id="13" name="Shape 9"/>
          <p:cNvSpPr/>
          <p:nvPr/>
        </p:nvSpPr>
        <p:spPr>
          <a:xfrm>
            <a:off x="428625" y="2200275"/>
            <a:ext cx="285750" cy="285750"/>
          </a:xfrm>
          <a:prstGeom prst="ellipse">
            <a:avLst/>
          </a:prstGeom>
          <a:solidFill>
            <a:srgbClr val="4682B4"/>
          </a:solidFill>
          <a:ln/>
        </p:spPr>
      </p:sp>
      <p:pic>
        <p:nvPicPr>
          <p:cNvPr id="14" name="Image 2" descr="preencoded.png">    </p:cNvPr>
          <p:cNvPicPr>
            <a:picLocks noChangeAspect="1"/>
          </p:cNvPicPr>
          <p:nvPr/>
        </p:nvPicPr>
        <p:blipFill>
          <a:blip r:embed="rId3"/>
          <a:stretch>
            <a:fillRect/>
          </a:stretch>
        </p:blipFill>
        <p:spPr>
          <a:xfrm>
            <a:off x="500063" y="2286000"/>
            <a:ext cx="142875" cy="114300"/>
          </a:xfrm>
          <a:prstGeom prst="rect">
            <a:avLst/>
          </a:prstGeom>
        </p:spPr>
      </p:pic>
      <p:sp>
        <p:nvSpPr>
          <p:cNvPr id="15" name="Text 10"/>
          <p:cNvSpPr/>
          <p:nvPr/>
        </p:nvSpPr>
        <p:spPr>
          <a:xfrm>
            <a:off x="821531" y="2200275"/>
            <a:ext cx="3436144" cy="214313"/>
          </a:xfrm>
          <a:prstGeom prst="rect">
            <a:avLst/>
          </a:prstGeom>
          <a:noFill/>
          <a:ln/>
        </p:spPr>
        <p:txBody>
          <a:bodyPr wrap="none" lIns="0" tIns="0" rIns="0" bIns="0" rtlCol="0" anchor="ctr">
            <a:spAutoFit/>
          </a:bodyPr>
          <a:lstStyle/>
          <a:p>
            <a:pPr indent="0" marL="0">
              <a:buNone/>
            </a:pPr>
            <a:r>
              <a:rPr lang="en-US" sz="1046" b="1" dirty="0">
                <a:solidFill>
                  <a:srgbClr val="333333"/>
                </a:solidFill>
                <a:latin typeface="Noto Sans" pitchFamily="34" charset="0"/>
                <a:ea typeface="Noto Sans" pitchFamily="34" charset="-122"/>
                <a:cs typeface="Noto Sans" pitchFamily="34" charset="-120"/>
              </a:rPr>
              <a:t>ユーザー中心の情報設計</a:t>
            </a:r>
            <a:endParaRPr lang="en-US" sz="1046" dirty="0"/>
          </a:p>
        </p:txBody>
      </p:sp>
      <p:sp>
        <p:nvSpPr>
          <p:cNvPr id="16" name="Text 11"/>
          <p:cNvSpPr/>
          <p:nvPr/>
        </p:nvSpPr>
        <p:spPr>
          <a:xfrm>
            <a:off x="821531" y="2457450"/>
            <a:ext cx="2857500" cy="155377"/>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主要ターゲット（利用者、支援者、求職者）に合わせた</a:t>
            </a:r>
            <a:endParaRPr lang="en-US" sz="837" dirty="0"/>
          </a:p>
        </p:txBody>
      </p:sp>
      <p:sp>
        <p:nvSpPr>
          <p:cNvPr id="17" name="Text 12"/>
          <p:cNvSpPr/>
          <p:nvPr/>
        </p:nvSpPr>
        <p:spPr>
          <a:xfrm>
            <a:off x="3679031" y="2457450"/>
            <a:ext cx="571500" cy="155377"/>
          </a:xfrm>
          <a:prstGeom prst="rect">
            <a:avLst/>
          </a:prstGeom>
          <a:noFill/>
          <a:ln/>
        </p:spPr>
        <p:txBody>
          <a:bodyPr wrap="none" lIns="0" tIns="0" rIns="0" bIns="0" rtlCol="0" anchor="ctr">
            <a:spAutoFit/>
          </a:bodyPr>
          <a:lstStyle/>
          <a:p>
            <a:pPr indent="0" marL="0">
              <a:buNone/>
            </a:pPr>
            <a:r>
              <a:rPr lang="en-US" sz="837" b="1" dirty="0">
                <a:solidFill>
                  <a:srgbClr val="FF6347"/>
                </a:solidFill>
                <a:latin typeface="Noto Sans" pitchFamily="34" charset="0"/>
                <a:ea typeface="Noto Sans" pitchFamily="34" charset="-122"/>
                <a:cs typeface="Noto Sans" pitchFamily="34" charset="-120"/>
              </a:rPr>
              <a:t>直感的な情</a:t>
            </a:r>
            <a:endParaRPr lang="en-US" sz="837" dirty="0"/>
          </a:p>
        </p:txBody>
      </p:sp>
      <p:sp>
        <p:nvSpPr>
          <p:cNvPr id="18" name="Text 13"/>
          <p:cNvSpPr/>
          <p:nvPr/>
        </p:nvSpPr>
        <p:spPr>
          <a:xfrm>
            <a:off x="821531" y="2628900"/>
            <a:ext cx="342900" cy="155377"/>
          </a:xfrm>
          <a:prstGeom prst="rect">
            <a:avLst/>
          </a:prstGeom>
          <a:noFill/>
          <a:ln/>
        </p:spPr>
        <p:txBody>
          <a:bodyPr wrap="none" lIns="0" tIns="0" rIns="0" bIns="0" rtlCol="0" anchor="ctr">
            <a:spAutoFit/>
          </a:bodyPr>
          <a:lstStyle/>
          <a:p>
            <a:pPr indent="0" marL="0">
              <a:buNone/>
            </a:pPr>
            <a:r>
              <a:rPr lang="en-US" sz="837" b="1" dirty="0">
                <a:solidFill>
                  <a:srgbClr val="FF6347"/>
                </a:solidFill>
                <a:latin typeface="Noto Sans" pitchFamily="34" charset="0"/>
                <a:ea typeface="Noto Sans" pitchFamily="34" charset="-122"/>
                <a:cs typeface="Noto Sans" pitchFamily="34" charset="-120"/>
              </a:rPr>
              <a:t>報提供</a:t>
            </a:r>
            <a:endParaRPr lang="en-US" sz="837" dirty="0"/>
          </a:p>
        </p:txBody>
      </p:sp>
      <p:sp>
        <p:nvSpPr>
          <p:cNvPr id="19" name="Text 14"/>
          <p:cNvSpPr/>
          <p:nvPr/>
        </p:nvSpPr>
        <p:spPr>
          <a:xfrm>
            <a:off x="1164431" y="2628900"/>
            <a:ext cx="788687" cy="155377"/>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を実現します。</a:t>
            </a:r>
            <a:endParaRPr lang="en-US" sz="837" dirty="0"/>
          </a:p>
        </p:txBody>
      </p:sp>
      <p:sp>
        <p:nvSpPr>
          <p:cNvPr id="20" name="Shape 15"/>
          <p:cNvSpPr/>
          <p:nvPr/>
        </p:nvSpPr>
        <p:spPr>
          <a:xfrm>
            <a:off x="428625" y="2936081"/>
            <a:ext cx="285750" cy="285750"/>
          </a:xfrm>
          <a:prstGeom prst="ellipse">
            <a:avLst/>
          </a:prstGeom>
          <a:solidFill>
            <a:srgbClr val="4682B4"/>
          </a:solidFill>
          <a:ln/>
        </p:spPr>
      </p:sp>
      <p:pic>
        <p:nvPicPr>
          <p:cNvPr id="21" name="Image 3" descr="preencoded.png">    </p:cNvPr>
          <p:cNvPicPr>
            <a:picLocks noChangeAspect="1"/>
          </p:cNvPicPr>
          <p:nvPr/>
        </p:nvPicPr>
        <p:blipFill>
          <a:blip r:embed="rId4"/>
          <a:stretch>
            <a:fillRect/>
          </a:stretch>
        </p:blipFill>
        <p:spPr>
          <a:xfrm>
            <a:off x="500063" y="3021806"/>
            <a:ext cx="142875" cy="114300"/>
          </a:xfrm>
          <a:prstGeom prst="rect">
            <a:avLst/>
          </a:prstGeom>
        </p:spPr>
      </p:pic>
      <p:sp>
        <p:nvSpPr>
          <p:cNvPr id="22" name="Text 16"/>
          <p:cNvSpPr/>
          <p:nvPr/>
        </p:nvSpPr>
        <p:spPr>
          <a:xfrm>
            <a:off x="821531" y="2936081"/>
            <a:ext cx="3436144" cy="214313"/>
          </a:xfrm>
          <a:prstGeom prst="rect">
            <a:avLst/>
          </a:prstGeom>
          <a:noFill/>
          <a:ln/>
        </p:spPr>
        <p:txBody>
          <a:bodyPr wrap="none" lIns="0" tIns="0" rIns="0" bIns="0" rtlCol="0" anchor="ctr">
            <a:spAutoFit/>
          </a:bodyPr>
          <a:lstStyle/>
          <a:p>
            <a:pPr indent="0" marL="0">
              <a:buNone/>
            </a:pPr>
            <a:r>
              <a:rPr lang="en-US" sz="1046" b="1" dirty="0">
                <a:solidFill>
                  <a:srgbClr val="333333"/>
                </a:solidFill>
                <a:latin typeface="Noto Sans" pitchFamily="34" charset="0"/>
                <a:ea typeface="Noto Sans" pitchFamily="34" charset="-122"/>
                <a:cs typeface="Noto Sans" pitchFamily="34" charset="-120"/>
              </a:rPr>
              <a:t>必須機能の充実</a:t>
            </a:r>
            <a:endParaRPr lang="en-US" sz="1046" dirty="0"/>
          </a:p>
        </p:txBody>
      </p:sp>
      <p:sp>
        <p:nvSpPr>
          <p:cNvPr id="23" name="Text 17"/>
          <p:cNvSpPr/>
          <p:nvPr/>
        </p:nvSpPr>
        <p:spPr>
          <a:xfrm>
            <a:off x="821531" y="3193256"/>
            <a:ext cx="914400" cy="155377"/>
          </a:xfrm>
          <a:prstGeom prst="rect">
            <a:avLst/>
          </a:prstGeom>
          <a:noFill/>
          <a:ln/>
        </p:spPr>
        <p:txBody>
          <a:bodyPr wrap="none" lIns="0" tIns="0" rIns="0" bIns="0" rtlCol="0" anchor="ctr">
            <a:spAutoFit/>
          </a:bodyPr>
          <a:lstStyle/>
          <a:p>
            <a:pPr indent="0" marL="0">
              <a:buNone/>
            </a:pPr>
            <a:r>
              <a:rPr lang="en-US" sz="837" b="1" dirty="0">
                <a:solidFill>
                  <a:srgbClr val="FF6347"/>
                </a:solidFill>
                <a:latin typeface="Noto Sans" pitchFamily="34" charset="0"/>
                <a:ea typeface="Noto Sans" pitchFamily="34" charset="-122"/>
                <a:cs typeface="Noto Sans" pitchFamily="34" charset="-120"/>
              </a:rPr>
              <a:t>求人情報の一元化</a:t>
            </a:r>
            <a:endParaRPr lang="en-US" sz="837" dirty="0"/>
          </a:p>
        </p:txBody>
      </p:sp>
      <p:sp>
        <p:nvSpPr>
          <p:cNvPr id="24" name="Text 18"/>
          <p:cNvSpPr/>
          <p:nvPr/>
        </p:nvSpPr>
        <p:spPr>
          <a:xfrm>
            <a:off x="1735931" y="3193256"/>
            <a:ext cx="114300" cy="155377"/>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と</a:t>
            </a:r>
            <a:endParaRPr lang="en-US" sz="837" dirty="0"/>
          </a:p>
        </p:txBody>
      </p:sp>
      <p:sp>
        <p:nvSpPr>
          <p:cNvPr id="25" name="Text 19"/>
          <p:cNvSpPr/>
          <p:nvPr/>
        </p:nvSpPr>
        <p:spPr>
          <a:xfrm>
            <a:off x="1850231" y="3193256"/>
            <a:ext cx="1025296" cy="155377"/>
          </a:xfrm>
          <a:prstGeom prst="rect">
            <a:avLst/>
          </a:prstGeom>
          <a:noFill/>
          <a:ln/>
        </p:spPr>
        <p:txBody>
          <a:bodyPr wrap="none" lIns="0" tIns="0" rIns="0" bIns="0" rtlCol="0" anchor="ctr">
            <a:spAutoFit/>
          </a:bodyPr>
          <a:lstStyle/>
          <a:p>
            <a:pPr indent="0" marL="0">
              <a:buNone/>
            </a:pPr>
            <a:r>
              <a:rPr lang="en-US" sz="837" b="1" dirty="0">
                <a:solidFill>
                  <a:srgbClr val="FF6347"/>
                </a:solidFill>
                <a:latin typeface="Noto Sans" pitchFamily="34" charset="0"/>
                <a:ea typeface="Noto Sans" pitchFamily="34" charset="-122"/>
                <a:cs typeface="Noto Sans" pitchFamily="34" charset="-120"/>
              </a:rPr>
              <a:t>寄付システムの導入</a:t>
            </a:r>
            <a:endParaRPr lang="en-US" sz="837" dirty="0"/>
          </a:p>
        </p:txBody>
      </p:sp>
      <p:sp>
        <p:nvSpPr>
          <p:cNvPr id="26" name="Text 20"/>
          <p:cNvSpPr/>
          <p:nvPr/>
        </p:nvSpPr>
        <p:spPr>
          <a:xfrm>
            <a:off x="2875527" y="3193256"/>
            <a:ext cx="1371600" cy="155377"/>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、各施設の詳細情報提供を</a:t>
            </a:r>
            <a:endParaRPr lang="en-US" sz="837" dirty="0"/>
          </a:p>
        </p:txBody>
      </p:sp>
      <p:sp>
        <p:nvSpPr>
          <p:cNvPr id="27" name="Text 21"/>
          <p:cNvSpPr/>
          <p:nvPr/>
        </p:nvSpPr>
        <p:spPr>
          <a:xfrm>
            <a:off x="821531" y="3364706"/>
            <a:ext cx="674387" cy="155377"/>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実現します。</a:t>
            </a:r>
            <a:endParaRPr lang="en-US" sz="837" dirty="0"/>
          </a:p>
        </p:txBody>
      </p:sp>
      <p:sp>
        <p:nvSpPr>
          <p:cNvPr id="28" name="Shape 22"/>
          <p:cNvSpPr/>
          <p:nvPr/>
        </p:nvSpPr>
        <p:spPr>
          <a:xfrm>
            <a:off x="428625" y="3671888"/>
            <a:ext cx="285750" cy="285750"/>
          </a:xfrm>
          <a:prstGeom prst="ellipse">
            <a:avLst/>
          </a:prstGeom>
          <a:solidFill>
            <a:srgbClr val="4682B4"/>
          </a:solidFill>
          <a:ln/>
        </p:spPr>
      </p:sp>
      <p:pic>
        <p:nvPicPr>
          <p:cNvPr id="29" name="Image 4" descr="preencoded.png">    </p:cNvPr>
          <p:cNvPicPr>
            <a:picLocks noChangeAspect="1"/>
          </p:cNvPicPr>
          <p:nvPr/>
        </p:nvPicPr>
        <p:blipFill>
          <a:blip r:embed="rId5"/>
          <a:stretch>
            <a:fillRect/>
          </a:stretch>
        </p:blipFill>
        <p:spPr>
          <a:xfrm>
            <a:off x="514350" y="3757613"/>
            <a:ext cx="114300" cy="114300"/>
          </a:xfrm>
          <a:prstGeom prst="rect">
            <a:avLst/>
          </a:prstGeom>
        </p:spPr>
      </p:pic>
      <p:sp>
        <p:nvSpPr>
          <p:cNvPr id="30" name="Text 23"/>
          <p:cNvSpPr/>
          <p:nvPr/>
        </p:nvSpPr>
        <p:spPr>
          <a:xfrm>
            <a:off x="821531" y="3671888"/>
            <a:ext cx="3436144" cy="214313"/>
          </a:xfrm>
          <a:prstGeom prst="rect">
            <a:avLst/>
          </a:prstGeom>
          <a:noFill/>
          <a:ln/>
        </p:spPr>
        <p:txBody>
          <a:bodyPr wrap="none" lIns="0" tIns="0" rIns="0" bIns="0" rtlCol="0" anchor="ctr">
            <a:spAutoFit/>
          </a:bodyPr>
          <a:lstStyle/>
          <a:p>
            <a:pPr indent="0" marL="0">
              <a:buNone/>
            </a:pPr>
            <a:r>
              <a:rPr lang="en-US" sz="1046" b="1" dirty="0">
                <a:solidFill>
                  <a:srgbClr val="333333"/>
                </a:solidFill>
                <a:latin typeface="Noto Sans" pitchFamily="34" charset="0"/>
                <a:ea typeface="Noto Sans" pitchFamily="34" charset="-122"/>
                <a:cs typeface="Noto Sans" pitchFamily="34" charset="-120"/>
              </a:rPr>
              <a:t>持続可能な運用体制</a:t>
            </a:r>
            <a:endParaRPr lang="en-US" sz="1046" dirty="0"/>
          </a:p>
        </p:txBody>
      </p:sp>
      <p:sp>
        <p:nvSpPr>
          <p:cNvPr id="31" name="Text 24"/>
          <p:cNvSpPr/>
          <p:nvPr/>
        </p:nvSpPr>
        <p:spPr>
          <a:xfrm>
            <a:off x="821531" y="3929063"/>
            <a:ext cx="342900" cy="155377"/>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職員が</a:t>
            </a:r>
            <a:endParaRPr lang="en-US" sz="837" dirty="0"/>
          </a:p>
        </p:txBody>
      </p:sp>
      <p:sp>
        <p:nvSpPr>
          <p:cNvPr id="32" name="Text 25"/>
          <p:cNvSpPr/>
          <p:nvPr/>
        </p:nvSpPr>
        <p:spPr>
          <a:xfrm>
            <a:off x="1164431" y="3929063"/>
            <a:ext cx="1152265" cy="155377"/>
          </a:xfrm>
          <a:prstGeom prst="rect">
            <a:avLst/>
          </a:prstGeom>
          <a:noFill/>
          <a:ln/>
        </p:spPr>
        <p:txBody>
          <a:bodyPr wrap="none" lIns="0" tIns="0" rIns="0" bIns="0" rtlCol="0" anchor="ctr">
            <a:spAutoFit/>
          </a:bodyPr>
          <a:lstStyle/>
          <a:p>
            <a:pPr indent="0" marL="0">
              <a:buNone/>
            </a:pPr>
            <a:r>
              <a:rPr lang="en-US" sz="837" b="1" dirty="0">
                <a:solidFill>
                  <a:srgbClr val="FF6347"/>
                </a:solidFill>
                <a:latin typeface="Noto Sans" pitchFamily="34" charset="0"/>
                <a:ea typeface="Noto Sans" pitchFamily="34" charset="-122"/>
                <a:cs typeface="Noto Sans" pitchFamily="34" charset="-120"/>
              </a:rPr>
              <a:t>簡単に更新できるCMS</a:t>
            </a:r>
            <a:endParaRPr lang="en-US" sz="837" dirty="0"/>
          </a:p>
        </p:txBody>
      </p:sp>
      <p:sp>
        <p:nvSpPr>
          <p:cNvPr id="33" name="Text 26"/>
          <p:cNvSpPr/>
          <p:nvPr/>
        </p:nvSpPr>
        <p:spPr>
          <a:xfrm>
            <a:off x="2316696" y="3929063"/>
            <a:ext cx="1938551" cy="155377"/>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の導入と、効率的な運用計画を提案し</a:t>
            </a:r>
            <a:endParaRPr lang="en-US" sz="837" dirty="0"/>
          </a:p>
        </p:txBody>
      </p:sp>
      <p:sp>
        <p:nvSpPr>
          <p:cNvPr id="34" name="Text 27"/>
          <p:cNvSpPr/>
          <p:nvPr/>
        </p:nvSpPr>
        <p:spPr>
          <a:xfrm>
            <a:off x="821531" y="4100513"/>
            <a:ext cx="331487" cy="155377"/>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ます。</a:t>
            </a:r>
            <a:endParaRPr lang="en-US" sz="837" dirty="0"/>
          </a:p>
        </p:txBody>
      </p:sp>
      <p:sp>
        <p:nvSpPr>
          <p:cNvPr id="35" name="Text 28"/>
          <p:cNvSpPr/>
          <p:nvPr/>
        </p:nvSpPr>
        <p:spPr>
          <a:xfrm>
            <a:off x="4743450" y="957263"/>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期待される効果</a:t>
            </a:r>
            <a:endParaRPr lang="en-US" sz="1350" dirty="0"/>
          </a:p>
        </p:txBody>
      </p:sp>
      <p:sp>
        <p:nvSpPr>
          <p:cNvPr id="36" name="Shape 29"/>
          <p:cNvSpPr/>
          <p:nvPr/>
        </p:nvSpPr>
        <p:spPr>
          <a:xfrm>
            <a:off x="4743450" y="1321594"/>
            <a:ext cx="4114800" cy="2857500"/>
          </a:xfrm>
          <a:prstGeom prst="rect">
            <a:avLst/>
          </a:prstGeom>
          <a:solidFill>
            <a:srgbClr val="FFFFFF"/>
          </a:solidFill>
          <a:ln/>
        </p:spPr>
      </p:sp>
      <p:pic>
        <p:nvPicPr>
          <p:cNvPr id="37" name="Image 5" descr="preencoded.png">    </p:cNvPr>
          <p:cNvPicPr>
            <a:picLocks noChangeAspect="1"/>
          </p:cNvPicPr>
          <p:nvPr/>
        </p:nvPicPr>
        <p:blipFill>
          <a:blip r:embed="rId6"/>
          <a:stretch>
            <a:fillRect/>
          </a:stretch>
        </p:blipFill>
        <p:spPr>
          <a:xfrm>
            <a:off x="4886325" y="1464469"/>
            <a:ext cx="3829050" cy="2500313"/>
          </a:xfrm>
          <a:prstGeom prst="rect">
            <a:avLst/>
          </a:prstGeom>
        </p:spPr>
      </p:pic>
      <p:sp>
        <p:nvSpPr>
          <p:cNvPr id="38" name="Shape 30"/>
          <p:cNvSpPr/>
          <p:nvPr/>
        </p:nvSpPr>
        <p:spPr>
          <a:xfrm>
            <a:off x="4743450" y="4321969"/>
            <a:ext cx="4114800" cy="1485900"/>
          </a:xfrm>
          <a:prstGeom prst="rect">
            <a:avLst/>
          </a:prstGeom>
          <a:solidFill>
            <a:srgbClr val="FFFFFF"/>
          </a:solidFill>
          <a:ln/>
        </p:spPr>
      </p:sp>
      <p:sp>
        <p:nvSpPr>
          <p:cNvPr id="39" name="Text 31"/>
          <p:cNvSpPr/>
          <p:nvPr/>
        </p:nvSpPr>
        <p:spPr>
          <a:xfrm>
            <a:off x="4886325" y="4464844"/>
            <a:ext cx="3829050" cy="214313"/>
          </a:xfrm>
          <a:prstGeom prst="rect">
            <a:avLst/>
          </a:prstGeom>
          <a:noFill/>
          <a:ln/>
        </p:spPr>
        <p:txBody>
          <a:bodyPr wrap="none" lIns="0" tIns="0" rIns="0" bIns="0" rtlCol="0" anchor="ctr">
            <a:spAutoFit/>
          </a:bodyPr>
          <a:lstStyle/>
          <a:p>
            <a:pPr indent="0" marL="0">
              <a:buNone/>
            </a:pPr>
            <a:r>
              <a:rPr lang="en-US" sz="1046" b="1" dirty="0">
                <a:solidFill>
                  <a:srgbClr val="4682B4"/>
                </a:solidFill>
                <a:latin typeface="Noto Sans" pitchFamily="34" charset="0"/>
                <a:ea typeface="Noto Sans" pitchFamily="34" charset="-122"/>
                <a:cs typeface="Noto Sans" pitchFamily="34" charset="-120"/>
              </a:rPr>
              <a:t>主な改善ポイント</a:t>
            </a:r>
            <a:endParaRPr lang="en-US" sz="1046" dirty="0"/>
          </a:p>
        </p:txBody>
      </p:sp>
      <p:sp>
        <p:nvSpPr>
          <p:cNvPr id="40" name="Text 32"/>
          <p:cNvSpPr/>
          <p:nvPr/>
        </p:nvSpPr>
        <p:spPr>
          <a:xfrm>
            <a:off x="5029200" y="4757738"/>
            <a:ext cx="342900"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情報の</a:t>
            </a:r>
            <a:endParaRPr lang="en-US" sz="837" dirty="0"/>
          </a:p>
        </p:txBody>
      </p:sp>
      <p:sp>
        <p:nvSpPr>
          <p:cNvPr id="41" name="Text 33"/>
          <p:cNvSpPr/>
          <p:nvPr/>
        </p:nvSpPr>
        <p:spPr>
          <a:xfrm>
            <a:off x="5372100" y="4757738"/>
            <a:ext cx="1139596"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一元管理による効率化</a:t>
            </a:r>
            <a:endParaRPr lang="en-US" sz="837" dirty="0"/>
          </a:p>
        </p:txBody>
      </p:sp>
      <p:sp>
        <p:nvSpPr>
          <p:cNvPr id="42" name="Text 34"/>
          <p:cNvSpPr/>
          <p:nvPr/>
        </p:nvSpPr>
        <p:spPr>
          <a:xfrm>
            <a:off x="5029200" y="4986338"/>
            <a:ext cx="1939668"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プロフェッショナルなデザインによる</a:t>
            </a:r>
            <a:endParaRPr lang="en-US" sz="837" dirty="0"/>
          </a:p>
        </p:txBody>
      </p:sp>
      <p:sp>
        <p:nvSpPr>
          <p:cNvPr id="43" name="Text 35"/>
          <p:cNvSpPr/>
          <p:nvPr/>
        </p:nvSpPr>
        <p:spPr>
          <a:xfrm>
            <a:off x="6968868" y="4986338"/>
            <a:ext cx="68580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信頼感の醸成</a:t>
            </a:r>
            <a:endParaRPr lang="en-US" sz="837" dirty="0"/>
          </a:p>
        </p:txBody>
      </p:sp>
      <p:sp>
        <p:nvSpPr>
          <p:cNvPr id="44" name="Text 36"/>
          <p:cNvSpPr/>
          <p:nvPr/>
        </p:nvSpPr>
        <p:spPr>
          <a:xfrm>
            <a:off x="5029200" y="5214938"/>
            <a:ext cx="1289307"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寄付者・ボランティアなど</a:t>
            </a:r>
            <a:endParaRPr lang="en-US" sz="837" dirty="0"/>
          </a:p>
        </p:txBody>
      </p:sp>
      <p:sp>
        <p:nvSpPr>
          <p:cNvPr id="45" name="Text 37"/>
          <p:cNvSpPr/>
          <p:nvPr/>
        </p:nvSpPr>
        <p:spPr>
          <a:xfrm>
            <a:off x="6318507" y="5214938"/>
            <a:ext cx="91440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多様な支援の獲得</a:t>
            </a:r>
            <a:endParaRPr lang="en-US" sz="837" dirty="0"/>
          </a:p>
        </p:txBody>
      </p:sp>
      <p:sp>
        <p:nvSpPr>
          <p:cNvPr id="46" name="Text 38"/>
          <p:cNvSpPr/>
          <p:nvPr/>
        </p:nvSpPr>
        <p:spPr>
          <a:xfrm>
            <a:off x="5029200" y="5443538"/>
            <a:ext cx="1825396"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求職者への魅力的な情報提供による</a:t>
            </a:r>
            <a:endParaRPr lang="en-US" sz="837" dirty="0"/>
          </a:p>
        </p:txBody>
      </p:sp>
      <p:sp>
        <p:nvSpPr>
          <p:cNvPr id="47" name="Text 39"/>
          <p:cNvSpPr/>
          <p:nvPr/>
        </p:nvSpPr>
        <p:spPr>
          <a:xfrm>
            <a:off x="6854596" y="5443538"/>
            <a:ext cx="80010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人材確保の強化</a:t>
            </a:r>
            <a:endParaRPr lang="en-US" sz="83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750844"/>
          </a:xfrm>
          <a:prstGeom prst="rect">
            <a:avLst/>
          </a:prstGeom>
        </p:spPr>
      </p:pic>
      <p:sp>
        <p:nvSpPr>
          <p:cNvPr id="3" name="Text 0"/>
          <p:cNvSpPr/>
          <p:nvPr/>
        </p:nvSpPr>
        <p:spPr>
          <a:xfrm>
            <a:off x="285750" y="285750"/>
            <a:ext cx="8572500" cy="478631"/>
          </a:xfrm>
          <a:prstGeom prst="rect">
            <a:avLst/>
          </a:prstGeom>
          <a:noFill/>
          <a:ln/>
        </p:spPr>
        <p:txBody>
          <a:bodyPr wrap="none" lIns="0" tIns="0" rIns="0" bIns="85090" rtlCol="0" anchor="ctr">
            <a:spAutoFit/>
          </a:bodyPr>
          <a:lstStyle/>
          <a:p>
            <a:pPr indent="0" marL="0">
              <a:buNone/>
            </a:pPr>
            <a:r>
              <a:rPr lang="en-US" sz="2025" b="1" dirty="0">
                <a:solidFill>
                  <a:srgbClr val="4682B4"/>
                </a:solidFill>
                <a:latin typeface="Noto Sans" pitchFamily="34" charset="0"/>
                <a:ea typeface="Noto Sans" pitchFamily="34" charset="-122"/>
                <a:cs typeface="Noto Sans" pitchFamily="34" charset="-120"/>
              </a:rPr>
              <a:t>ウェブサイト構成案</a:t>
            </a:r>
            <a:endParaRPr lang="en-US" sz="2025" dirty="0"/>
          </a:p>
        </p:txBody>
      </p:sp>
      <p:sp>
        <p:nvSpPr>
          <p:cNvPr id="4" name="Text 1"/>
          <p:cNvSpPr/>
          <p:nvPr/>
        </p:nvSpPr>
        <p:spPr>
          <a:xfrm>
            <a:off x="285750" y="957263"/>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3つの構成案</a:t>
            </a:r>
            <a:endParaRPr lang="en-US" sz="1350" dirty="0"/>
          </a:p>
        </p:txBody>
      </p:sp>
      <p:sp>
        <p:nvSpPr>
          <p:cNvPr id="5" name="Shape 2"/>
          <p:cNvSpPr/>
          <p:nvPr/>
        </p:nvSpPr>
        <p:spPr>
          <a:xfrm>
            <a:off x="285750" y="1321594"/>
            <a:ext cx="4114800" cy="4979194"/>
          </a:xfrm>
          <a:prstGeom prst="rect">
            <a:avLst/>
          </a:prstGeom>
          <a:solidFill>
            <a:srgbClr val="FFFFFF"/>
          </a:solidFill>
          <a:ln/>
        </p:spPr>
      </p:sp>
      <p:sp>
        <p:nvSpPr>
          <p:cNvPr id="6" name="Text 3"/>
          <p:cNvSpPr/>
          <p:nvPr/>
        </p:nvSpPr>
        <p:spPr>
          <a:xfrm>
            <a:off x="428625" y="1464469"/>
            <a:ext cx="1312608" cy="214313"/>
          </a:xfrm>
          <a:prstGeom prst="rect">
            <a:avLst/>
          </a:prstGeom>
          <a:noFill/>
          <a:ln/>
        </p:spPr>
        <p:txBody>
          <a:bodyPr wrap="none" lIns="0" tIns="0" rIns="0" bIns="0" rtlCol="0" anchor="ctr">
            <a:spAutoFit/>
          </a:bodyPr>
          <a:lstStyle/>
          <a:p>
            <a:pPr indent="0" marL="0">
              <a:buNone/>
            </a:pPr>
            <a:r>
              <a:rPr lang="en-US" sz="1046" b="1" dirty="0">
                <a:solidFill>
                  <a:srgbClr val="333333"/>
                </a:solidFill>
                <a:latin typeface="Noto Sans" pitchFamily="34" charset="0"/>
                <a:ea typeface="Noto Sans" pitchFamily="34" charset="-122"/>
                <a:cs typeface="Noto Sans" pitchFamily="34" charset="-120"/>
              </a:rPr>
              <a:t> 構成案A: 法人中心型 </a:t>
            </a:r>
            <a:endParaRPr lang="en-US" sz="1046" dirty="0"/>
          </a:p>
        </p:txBody>
      </p:sp>
      <p:sp>
        <p:nvSpPr>
          <p:cNvPr id="7" name="Shape 4"/>
          <p:cNvSpPr/>
          <p:nvPr/>
        </p:nvSpPr>
        <p:spPr>
          <a:xfrm>
            <a:off x="1812671" y="1482328"/>
            <a:ext cx="314325" cy="178594"/>
          </a:xfrm>
          <a:prstGeom prst="roundRect">
            <a:avLst/>
          </a:prstGeom>
          <a:solidFill>
            <a:srgbClr val="4682B4"/>
          </a:solidFill>
          <a:ln/>
        </p:spPr>
      </p:sp>
      <p:sp>
        <p:nvSpPr>
          <p:cNvPr id="8" name="Text 5"/>
          <p:cNvSpPr/>
          <p:nvPr/>
        </p:nvSpPr>
        <p:spPr>
          <a:xfrm>
            <a:off x="1812671" y="1482328"/>
            <a:ext cx="314325" cy="178594"/>
          </a:xfrm>
          <a:prstGeom prst="rect">
            <a:avLst/>
          </a:prstGeom>
          <a:noFill/>
          <a:ln/>
        </p:spPr>
        <p:txBody>
          <a:bodyPr wrap="none" lIns="68072" tIns="17018" rIns="68072" bIns="17018" rtlCol="0" anchor="ctr">
            <a:spAutoFit/>
          </a:bodyPr>
          <a:lstStyle/>
          <a:p>
            <a:pPr indent="0" marL="0">
              <a:buNone/>
            </a:pPr>
            <a:r>
              <a:rPr lang="en-US" sz="732" b="1" dirty="0">
                <a:solidFill>
                  <a:srgbClr val="FFFFFF"/>
                </a:solidFill>
                <a:latin typeface="Noto Sans" pitchFamily="34" charset="0"/>
                <a:ea typeface="Noto Sans" pitchFamily="34" charset="-122"/>
                <a:cs typeface="Noto Sans" pitchFamily="34" charset="-120"/>
              </a:rPr>
              <a:t>推奨</a:t>
            </a:r>
            <a:endParaRPr lang="en-US" sz="732" dirty="0"/>
          </a:p>
        </p:txBody>
      </p:sp>
      <p:sp>
        <p:nvSpPr>
          <p:cNvPr id="9" name="Text 6"/>
          <p:cNvSpPr/>
          <p:nvPr/>
        </p:nvSpPr>
        <p:spPr>
          <a:xfrm>
            <a:off x="428625" y="1714500"/>
            <a:ext cx="3829050" cy="342900"/>
          </a:xfrm>
          <a:prstGeom prst="rect">
            <a:avLst/>
          </a:prstGeom>
          <a:noFill/>
          <a:ln/>
        </p:spPr>
        <p:txBody>
          <a:bodyPr wrap="squar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 法人全体の活動を包括的に紹介し、各ホームを法人の事業として統一的に管理する構成です。 </a:t>
            </a:r>
            <a:endParaRPr lang="en-US" sz="837" dirty="0"/>
          </a:p>
        </p:txBody>
      </p:sp>
      <p:sp>
        <p:nvSpPr>
          <p:cNvPr id="10" name="Shape 7"/>
          <p:cNvSpPr/>
          <p:nvPr/>
        </p:nvSpPr>
        <p:spPr>
          <a:xfrm>
            <a:off x="428625" y="2128838"/>
            <a:ext cx="1011427" cy="178594"/>
          </a:xfrm>
          <a:prstGeom prst="roundRect">
            <a:avLst/>
          </a:prstGeom>
          <a:solidFill>
            <a:srgbClr val="E6F2FF"/>
          </a:solidFill>
          <a:ln/>
        </p:spPr>
      </p:sp>
      <p:sp>
        <p:nvSpPr>
          <p:cNvPr id="11" name="Text 8"/>
          <p:cNvSpPr/>
          <p:nvPr/>
        </p:nvSpPr>
        <p:spPr>
          <a:xfrm>
            <a:off x="428625" y="2128838"/>
            <a:ext cx="1011427" cy="178594"/>
          </a:xfrm>
          <a:prstGeom prst="rect">
            <a:avLst/>
          </a:prstGeom>
          <a:noFill/>
          <a:ln/>
        </p:spPr>
        <p:txBody>
          <a:bodyPr wrap="none" lIns="68072" tIns="17018" rIns="68072" bIns="17018" rtlCol="0" anchor="ctr">
            <a:spAutoFit/>
          </a:bodyPr>
          <a:lstStyle/>
          <a:p>
            <a:pPr indent="0" marL="0">
              <a:buNone/>
            </a:pPr>
            <a:r>
              <a:rPr lang="en-US" sz="732" dirty="0">
                <a:solidFill>
                  <a:srgbClr val="4682B4"/>
                </a:solidFill>
                <a:latin typeface="Noto Sans" pitchFamily="34" charset="0"/>
                <a:ea typeface="Noto Sans" pitchFamily="34" charset="-122"/>
                <a:cs typeface="Noto Sans" pitchFamily="34" charset="-120"/>
              </a:rPr>
              <a:t>法人としての一体感</a:t>
            </a:r>
            <a:endParaRPr lang="en-US" sz="732" dirty="0"/>
          </a:p>
        </p:txBody>
      </p:sp>
      <p:sp>
        <p:nvSpPr>
          <p:cNvPr id="12" name="Shape 9"/>
          <p:cNvSpPr/>
          <p:nvPr/>
        </p:nvSpPr>
        <p:spPr>
          <a:xfrm>
            <a:off x="1497202" y="2128838"/>
            <a:ext cx="814388" cy="178594"/>
          </a:xfrm>
          <a:prstGeom prst="roundRect">
            <a:avLst/>
          </a:prstGeom>
          <a:solidFill>
            <a:srgbClr val="E6F2FF"/>
          </a:solidFill>
          <a:ln/>
        </p:spPr>
      </p:sp>
      <p:sp>
        <p:nvSpPr>
          <p:cNvPr id="13" name="Text 10"/>
          <p:cNvSpPr/>
          <p:nvPr/>
        </p:nvSpPr>
        <p:spPr>
          <a:xfrm>
            <a:off x="1497202" y="2128838"/>
            <a:ext cx="814388" cy="178594"/>
          </a:xfrm>
          <a:prstGeom prst="rect">
            <a:avLst/>
          </a:prstGeom>
          <a:noFill/>
          <a:ln/>
        </p:spPr>
        <p:txBody>
          <a:bodyPr wrap="none" lIns="68072" tIns="17018" rIns="68072" bIns="17018" rtlCol="0" anchor="ctr">
            <a:spAutoFit/>
          </a:bodyPr>
          <a:lstStyle/>
          <a:p>
            <a:pPr indent="0" marL="0">
              <a:buNone/>
            </a:pPr>
            <a:r>
              <a:rPr lang="en-US" sz="732" dirty="0">
                <a:solidFill>
                  <a:srgbClr val="4682B4"/>
                </a:solidFill>
                <a:latin typeface="Noto Sans" pitchFamily="34" charset="0"/>
                <a:ea typeface="Noto Sans" pitchFamily="34" charset="-122"/>
                <a:cs typeface="Noto Sans" pitchFamily="34" charset="-120"/>
              </a:rPr>
              <a:t>情報の一元管理</a:t>
            </a:r>
            <a:endParaRPr lang="en-US" sz="732" dirty="0"/>
          </a:p>
        </p:txBody>
      </p:sp>
      <p:sp>
        <p:nvSpPr>
          <p:cNvPr id="14" name="Shape 11"/>
          <p:cNvSpPr/>
          <p:nvPr/>
        </p:nvSpPr>
        <p:spPr>
          <a:xfrm>
            <a:off x="2368739" y="2128838"/>
            <a:ext cx="714375" cy="178594"/>
          </a:xfrm>
          <a:prstGeom prst="roundRect">
            <a:avLst/>
          </a:prstGeom>
          <a:solidFill>
            <a:srgbClr val="E6F2FF"/>
          </a:solidFill>
          <a:ln/>
        </p:spPr>
      </p:sp>
      <p:sp>
        <p:nvSpPr>
          <p:cNvPr id="15" name="Text 12"/>
          <p:cNvSpPr/>
          <p:nvPr/>
        </p:nvSpPr>
        <p:spPr>
          <a:xfrm>
            <a:off x="2368739" y="2128838"/>
            <a:ext cx="714375" cy="178594"/>
          </a:xfrm>
          <a:prstGeom prst="rect">
            <a:avLst/>
          </a:prstGeom>
          <a:noFill/>
          <a:ln/>
        </p:spPr>
        <p:txBody>
          <a:bodyPr wrap="none" lIns="68072" tIns="17018" rIns="68072" bIns="17018" rtlCol="0" anchor="ctr">
            <a:spAutoFit/>
          </a:bodyPr>
          <a:lstStyle/>
          <a:p>
            <a:pPr indent="0" marL="0">
              <a:buNone/>
            </a:pPr>
            <a:r>
              <a:rPr lang="en-US" sz="732" dirty="0">
                <a:solidFill>
                  <a:srgbClr val="4682B4"/>
                </a:solidFill>
                <a:latin typeface="Noto Sans" pitchFamily="34" charset="0"/>
                <a:ea typeface="Noto Sans" pitchFamily="34" charset="-122"/>
                <a:cs typeface="Noto Sans" pitchFamily="34" charset="-120"/>
              </a:rPr>
              <a:t>ブランド統一</a:t>
            </a:r>
            <a:endParaRPr lang="en-US" sz="732" dirty="0"/>
          </a:p>
        </p:txBody>
      </p:sp>
      <p:sp>
        <p:nvSpPr>
          <p:cNvPr id="16" name="Shape 13"/>
          <p:cNvSpPr/>
          <p:nvPr/>
        </p:nvSpPr>
        <p:spPr>
          <a:xfrm>
            <a:off x="428625" y="2364581"/>
            <a:ext cx="3829050" cy="1943100"/>
          </a:xfrm>
          <a:prstGeom prst="rect">
            <a:avLst/>
          </a:prstGeom>
          <a:solidFill>
            <a:srgbClr val="F5F5F5"/>
          </a:solidFill>
          <a:ln/>
        </p:spPr>
      </p:sp>
      <p:sp>
        <p:nvSpPr>
          <p:cNvPr id="17" name="Text 14"/>
          <p:cNvSpPr/>
          <p:nvPr/>
        </p:nvSpPr>
        <p:spPr>
          <a:xfrm>
            <a:off x="428625" y="2364581"/>
            <a:ext cx="3829050" cy="1943100"/>
          </a:xfrm>
          <a:prstGeom prst="rect">
            <a:avLst/>
          </a:prstGeom>
          <a:noFill/>
          <a:ln/>
        </p:spPr>
        <p:txBody>
          <a:bodyPr wrap="square" lIns="85090" tIns="85090" rIns="85090" bIns="85090" rtlCol="0" anchor="ctr">
            <a:spAutoFit/>
          </a:bodyPr>
          <a:lstStyle/>
          <a:p>
            <a:pPr indent="0" marL="0">
              <a:buNone/>
            </a:pPr>
            <a:endParaRPr lang="en-US" sz="732" dirty="0"/>
          </a:p>
          <a:p>
            <a:pPr indent="0" marL="0">
              <a:buNone/>
            </a:pPr>
            <a:r>
              <a:rPr lang="en-US" sz="732" dirty="0">
                <a:solidFill>
                  <a:srgbClr val="333333"/>
                </a:solidFill>
                <a:latin typeface="Noto Sans" pitchFamily="34" charset="0"/>
                <a:ea typeface="Noto Sans" pitchFamily="34" charset="-122"/>
                <a:cs typeface="Noto Sans" pitchFamily="34" charset="-120"/>
              </a:rPr>
              <a:t>トップページ</a:t>
            </a:r>
            <a:endParaRPr lang="en-US" sz="732" dirty="0"/>
          </a:p>
          <a:p>
            <a:pPr indent="0" marL="0">
              <a:buNone/>
            </a:pPr>
            <a:r>
              <a:rPr lang="en-US" sz="732" dirty="0">
                <a:solidFill>
                  <a:srgbClr val="333333"/>
                </a:solidFill>
                <a:latin typeface="Noto Sans" pitchFamily="34" charset="0"/>
                <a:ea typeface="Noto Sans" pitchFamily="34" charset="-122"/>
                <a:cs typeface="Noto Sans" pitchFamily="34" charset="-120"/>
              </a:rPr>
              <a:t>├── 法人について</a:t>
            </a:r>
            <a:endParaRPr lang="en-US" sz="732" dirty="0"/>
          </a:p>
          <a:p>
            <a:pPr indent="0" marL="0">
              <a:buNone/>
            </a:pPr>
            <a:r>
              <a:rPr lang="en-US" sz="732" dirty="0">
                <a:solidFill>
                  <a:srgbClr val="333333"/>
                </a:solidFill>
                <a:latin typeface="Noto Sans" pitchFamily="34" charset="0"/>
                <a:ea typeface="Noto Sans" pitchFamily="34" charset="-122"/>
                <a:cs typeface="Noto Sans" pitchFamily="34" charset="-120"/>
              </a:rPr>
              <a:t>├── 自立援助ホーム</a:t>
            </a:r>
            <a:endParaRPr lang="en-US" sz="732" dirty="0"/>
          </a:p>
          <a:p>
            <a:pPr indent="0" marL="0">
              <a:buNone/>
            </a:pPr>
            <a:r>
              <a:rPr lang="en-US" sz="732" dirty="0">
                <a:solidFill>
                  <a:srgbClr val="333333"/>
                </a:solidFill>
                <a:latin typeface="Noto Sans" pitchFamily="34" charset="0"/>
                <a:ea typeface="Noto Sans" pitchFamily="34" charset="-122"/>
                <a:cs typeface="Noto Sans" pitchFamily="34" charset="-120"/>
              </a:rPr>
              <a:t>│   ├── かんらん舎</a:t>
            </a:r>
            <a:endParaRPr lang="en-US" sz="732" dirty="0"/>
          </a:p>
          <a:p>
            <a:pPr indent="0" marL="0">
              <a:buNone/>
            </a:pPr>
            <a:r>
              <a:rPr lang="en-US" sz="732" dirty="0">
                <a:solidFill>
                  <a:srgbClr val="333333"/>
                </a:solidFill>
                <a:latin typeface="Noto Sans" pitchFamily="34" charset="0"/>
                <a:ea typeface="Noto Sans" pitchFamily="34" charset="-122"/>
                <a:cs typeface="Noto Sans" pitchFamily="34" charset="-120"/>
              </a:rPr>
              <a:t>│   ├── 結ホーム</a:t>
            </a:r>
            <a:endParaRPr lang="en-US" sz="732" dirty="0"/>
          </a:p>
          <a:p>
            <a:pPr indent="0" marL="0">
              <a:buNone/>
            </a:pPr>
            <a:r>
              <a:rPr lang="en-US" sz="732" dirty="0">
                <a:solidFill>
                  <a:srgbClr val="333333"/>
                </a:solidFill>
                <a:latin typeface="Noto Sans" pitchFamily="34" charset="0"/>
                <a:ea typeface="Noto Sans" pitchFamily="34" charset="-122"/>
                <a:cs typeface="Noto Sans" pitchFamily="34" charset="-120"/>
              </a:rPr>
              <a:t>│   ├── LEAP</a:t>
            </a:r>
            <a:endParaRPr lang="en-US" sz="732" dirty="0"/>
          </a:p>
          <a:p>
            <a:pPr indent="0" marL="0">
              <a:buNone/>
            </a:pPr>
            <a:r>
              <a:rPr lang="en-US" sz="732" dirty="0">
                <a:solidFill>
                  <a:srgbClr val="333333"/>
                </a:solidFill>
                <a:latin typeface="Noto Sans" pitchFamily="34" charset="0"/>
                <a:ea typeface="Noto Sans" pitchFamily="34" charset="-122"/>
                <a:cs typeface="Noto Sans" pitchFamily="34" charset="-120"/>
              </a:rPr>
              <a:t>│   ├── スイッチ</a:t>
            </a:r>
            <a:endParaRPr lang="en-US" sz="732" dirty="0"/>
          </a:p>
          <a:p>
            <a:pPr indent="0" marL="0">
              <a:buNone/>
            </a:pPr>
            <a:r>
              <a:rPr lang="en-US" sz="732" dirty="0">
                <a:solidFill>
                  <a:srgbClr val="333333"/>
                </a:solidFill>
                <a:latin typeface="Noto Sans" pitchFamily="34" charset="0"/>
                <a:ea typeface="Noto Sans" pitchFamily="34" charset="-122"/>
                <a:cs typeface="Noto Sans" pitchFamily="34" charset="-120"/>
              </a:rPr>
              <a:t>│   └── TIES</a:t>
            </a:r>
            <a:endParaRPr lang="en-US" sz="732" dirty="0"/>
          </a:p>
          <a:p>
            <a:pPr indent="0" marL="0">
              <a:buNone/>
            </a:pPr>
            <a:r>
              <a:rPr lang="en-US" sz="732" dirty="0">
                <a:solidFill>
                  <a:srgbClr val="333333"/>
                </a:solidFill>
                <a:latin typeface="Noto Sans" pitchFamily="34" charset="0"/>
                <a:ea typeface="Noto Sans" pitchFamily="34" charset="-122"/>
                <a:cs typeface="Noto Sans" pitchFamily="34" charset="-120"/>
              </a:rPr>
              <a:t>├── 求人情報 ★</a:t>
            </a:r>
            <a:endParaRPr lang="en-US" sz="732" dirty="0"/>
          </a:p>
          <a:p>
            <a:pPr indent="0" marL="0">
              <a:buNone/>
            </a:pPr>
            <a:r>
              <a:rPr lang="en-US" sz="732" dirty="0">
                <a:solidFill>
                  <a:srgbClr val="333333"/>
                </a:solidFill>
                <a:latin typeface="Noto Sans" pitchFamily="34" charset="0"/>
                <a:ea typeface="Noto Sans" pitchFamily="34" charset="-122"/>
                <a:cs typeface="Noto Sans" pitchFamily="34" charset="-120"/>
              </a:rPr>
              <a:t>├── 寄付・支援 ★</a:t>
            </a:r>
            <a:endParaRPr lang="en-US" sz="732" dirty="0"/>
          </a:p>
          <a:p>
            <a:pPr indent="0" marL="0">
              <a:buNone/>
            </a:pPr>
            <a:r>
              <a:rPr lang="en-US" sz="732" dirty="0">
                <a:solidFill>
                  <a:srgbClr val="333333"/>
                </a:solidFill>
                <a:latin typeface="Noto Sans" pitchFamily="34" charset="0"/>
                <a:ea typeface="Noto Sans" pitchFamily="34" charset="-122"/>
                <a:cs typeface="Noto Sans" pitchFamily="34" charset="-120"/>
              </a:rPr>
              <a:t>└── お問い合わせ</a:t>
            </a:r>
            <a:endParaRPr lang="en-US" sz="732" dirty="0"/>
          </a:p>
        </p:txBody>
      </p:sp>
      <p:sp>
        <p:nvSpPr>
          <p:cNvPr id="18" name="Text 15"/>
          <p:cNvSpPr/>
          <p:nvPr/>
        </p:nvSpPr>
        <p:spPr>
          <a:xfrm>
            <a:off x="428625" y="4421981"/>
            <a:ext cx="3829050" cy="214313"/>
          </a:xfrm>
          <a:prstGeom prst="rect">
            <a:avLst/>
          </a:prstGeom>
          <a:noFill/>
          <a:ln/>
        </p:spPr>
        <p:txBody>
          <a:bodyPr wrap="none" lIns="0" tIns="0" rIns="0" bIns="0" rtlCol="0" anchor="ctr">
            <a:spAutoFit/>
          </a:bodyPr>
          <a:lstStyle/>
          <a:p>
            <a:pPr indent="0" marL="0">
              <a:buNone/>
            </a:pPr>
            <a:r>
              <a:rPr lang="en-US" sz="1046" b="1" dirty="0">
                <a:solidFill>
                  <a:srgbClr val="333333"/>
                </a:solidFill>
                <a:latin typeface="Noto Sans" pitchFamily="34" charset="0"/>
                <a:ea typeface="Noto Sans" pitchFamily="34" charset="-122"/>
                <a:cs typeface="Noto Sans" pitchFamily="34" charset="-120"/>
              </a:rPr>
              <a:t>構成案B: ホーム個別重視型</a:t>
            </a:r>
            <a:endParaRPr lang="en-US" sz="1046" dirty="0"/>
          </a:p>
        </p:txBody>
      </p:sp>
      <p:sp>
        <p:nvSpPr>
          <p:cNvPr id="19" name="Text 16"/>
          <p:cNvSpPr/>
          <p:nvPr/>
        </p:nvSpPr>
        <p:spPr>
          <a:xfrm>
            <a:off x="428625" y="4672013"/>
            <a:ext cx="3829050" cy="342900"/>
          </a:xfrm>
          <a:prstGeom prst="rect">
            <a:avLst/>
          </a:prstGeom>
          <a:noFill/>
          <a:ln/>
        </p:spPr>
        <p:txBody>
          <a:bodyPr wrap="squar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 各ホームの個性と特色を前面に押し出し、利用者が自分に合ったホームを選びやすい構成です。 </a:t>
            </a:r>
            <a:endParaRPr lang="en-US" sz="837" dirty="0"/>
          </a:p>
        </p:txBody>
      </p:sp>
      <p:sp>
        <p:nvSpPr>
          <p:cNvPr id="20" name="Shape 17"/>
          <p:cNvSpPr/>
          <p:nvPr/>
        </p:nvSpPr>
        <p:spPr>
          <a:xfrm>
            <a:off x="428625" y="5086350"/>
            <a:ext cx="911414" cy="178594"/>
          </a:xfrm>
          <a:prstGeom prst="roundRect">
            <a:avLst/>
          </a:prstGeom>
          <a:solidFill>
            <a:srgbClr val="E6F2FF"/>
          </a:solidFill>
          <a:ln/>
        </p:spPr>
      </p:sp>
      <p:sp>
        <p:nvSpPr>
          <p:cNvPr id="21" name="Text 18"/>
          <p:cNvSpPr/>
          <p:nvPr/>
        </p:nvSpPr>
        <p:spPr>
          <a:xfrm>
            <a:off x="428625" y="5086350"/>
            <a:ext cx="911414" cy="178594"/>
          </a:xfrm>
          <a:prstGeom prst="rect">
            <a:avLst/>
          </a:prstGeom>
          <a:noFill/>
          <a:ln/>
        </p:spPr>
        <p:txBody>
          <a:bodyPr wrap="none" lIns="68072" tIns="17018" rIns="68072" bIns="17018" rtlCol="0" anchor="ctr">
            <a:spAutoFit/>
          </a:bodyPr>
          <a:lstStyle/>
          <a:p>
            <a:pPr indent="0" marL="0">
              <a:buNone/>
            </a:pPr>
            <a:r>
              <a:rPr lang="en-US" sz="732" dirty="0">
                <a:solidFill>
                  <a:srgbClr val="4682B4"/>
                </a:solidFill>
                <a:latin typeface="Noto Sans" pitchFamily="34" charset="0"/>
                <a:ea typeface="Noto Sans" pitchFamily="34" charset="-122"/>
                <a:cs typeface="Noto Sans" pitchFamily="34" charset="-120"/>
              </a:rPr>
              <a:t>ホームの個性重視</a:t>
            </a:r>
            <a:endParaRPr lang="en-US" sz="732" dirty="0"/>
          </a:p>
        </p:txBody>
      </p:sp>
      <p:sp>
        <p:nvSpPr>
          <p:cNvPr id="22" name="Shape 19"/>
          <p:cNvSpPr/>
          <p:nvPr/>
        </p:nvSpPr>
        <p:spPr>
          <a:xfrm>
            <a:off x="1397189" y="5086350"/>
            <a:ext cx="714375" cy="178594"/>
          </a:xfrm>
          <a:prstGeom prst="roundRect">
            <a:avLst/>
          </a:prstGeom>
          <a:solidFill>
            <a:srgbClr val="E6F2FF"/>
          </a:solidFill>
          <a:ln/>
        </p:spPr>
      </p:sp>
      <p:sp>
        <p:nvSpPr>
          <p:cNvPr id="23" name="Text 20"/>
          <p:cNvSpPr/>
          <p:nvPr/>
        </p:nvSpPr>
        <p:spPr>
          <a:xfrm>
            <a:off x="1397189" y="5086350"/>
            <a:ext cx="714375" cy="178594"/>
          </a:xfrm>
          <a:prstGeom prst="rect">
            <a:avLst/>
          </a:prstGeom>
          <a:noFill/>
          <a:ln/>
        </p:spPr>
        <p:txBody>
          <a:bodyPr wrap="none" lIns="68072" tIns="17018" rIns="68072" bIns="17018" rtlCol="0" anchor="ctr">
            <a:spAutoFit/>
          </a:bodyPr>
          <a:lstStyle/>
          <a:p>
            <a:pPr indent="0" marL="0">
              <a:buNone/>
            </a:pPr>
            <a:r>
              <a:rPr lang="en-US" sz="732" dirty="0">
                <a:solidFill>
                  <a:srgbClr val="4682B4"/>
                </a:solidFill>
                <a:latin typeface="Noto Sans" pitchFamily="34" charset="0"/>
                <a:ea typeface="Noto Sans" pitchFamily="34" charset="-122"/>
                <a:cs typeface="Noto Sans" pitchFamily="34" charset="-120"/>
              </a:rPr>
              <a:t>詳細情報充実</a:t>
            </a:r>
            <a:endParaRPr lang="en-US" sz="732" dirty="0"/>
          </a:p>
        </p:txBody>
      </p:sp>
      <p:sp>
        <p:nvSpPr>
          <p:cNvPr id="24" name="Shape 21"/>
          <p:cNvSpPr/>
          <p:nvPr/>
        </p:nvSpPr>
        <p:spPr>
          <a:xfrm>
            <a:off x="2168714" y="5086350"/>
            <a:ext cx="813411" cy="178594"/>
          </a:xfrm>
          <a:prstGeom prst="roundRect">
            <a:avLst/>
          </a:prstGeom>
          <a:solidFill>
            <a:srgbClr val="E6F2FF"/>
          </a:solidFill>
          <a:ln/>
        </p:spPr>
      </p:sp>
      <p:sp>
        <p:nvSpPr>
          <p:cNvPr id="25" name="Text 22"/>
          <p:cNvSpPr/>
          <p:nvPr/>
        </p:nvSpPr>
        <p:spPr>
          <a:xfrm>
            <a:off x="2168714" y="5086350"/>
            <a:ext cx="813411" cy="178594"/>
          </a:xfrm>
          <a:prstGeom prst="rect">
            <a:avLst/>
          </a:prstGeom>
          <a:noFill/>
          <a:ln/>
        </p:spPr>
        <p:txBody>
          <a:bodyPr wrap="none" lIns="68072" tIns="17018" rIns="68072" bIns="17018" rtlCol="0" anchor="ctr">
            <a:spAutoFit/>
          </a:bodyPr>
          <a:lstStyle/>
          <a:p>
            <a:pPr indent="0" marL="0">
              <a:buNone/>
            </a:pPr>
            <a:r>
              <a:rPr lang="en-US" sz="732" dirty="0">
                <a:solidFill>
                  <a:srgbClr val="4682B4"/>
                </a:solidFill>
                <a:latin typeface="Noto Sans" pitchFamily="34" charset="0"/>
                <a:ea typeface="Noto Sans" pitchFamily="34" charset="-122"/>
                <a:cs typeface="Noto Sans" pitchFamily="34" charset="-120"/>
              </a:rPr>
              <a:t>選択のしやすさ</a:t>
            </a:r>
            <a:endParaRPr lang="en-US" sz="732" dirty="0"/>
          </a:p>
        </p:txBody>
      </p:sp>
      <p:sp>
        <p:nvSpPr>
          <p:cNvPr id="26" name="Text 23"/>
          <p:cNvSpPr/>
          <p:nvPr/>
        </p:nvSpPr>
        <p:spPr>
          <a:xfrm>
            <a:off x="428625" y="5379244"/>
            <a:ext cx="3829050" cy="214313"/>
          </a:xfrm>
          <a:prstGeom prst="rect">
            <a:avLst/>
          </a:prstGeom>
          <a:noFill/>
          <a:ln/>
        </p:spPr>
        <p:txBody>
          <a:bodyPr wrap="none" lIns="0" tIns="0" rIns="0" bIns="0" rtlCol="0" anchor="ctr">
            <a:spAutoFit/>
          </a:bodyPr>
          <a:lstStyle/>
          <a:p>
            <a:pPr indent="0" marL="0">
              <a:buNone/>
            </a:pPr>
            <a:r>
              <a:rPr lang="en-US" sz="1046" b="1" dirty="0">
                <a:solidFill>
                  <a:srgbClr val="333333"/>
                </a:solidFill>
                <a:latin typeface="Noto Sans" pitchFamily="34" charset="0"/>
                <a:ea typeface="Noto Sans" pitchFamily="34" charset="-122"/>
                <a:cs typeface="Noto Sans" pitchFamily="34" charset="-120"/>
              </a:rPr>
              <a:t>構成案C: ターゲット別アプローチ型</a:t>
            </a:r>
            <a:endParaRPr lang="en-US" sz="1046" dirty="0"/>
          </a:p>
        </p:txBody>
      </p:sp>
      <p:sp>
        <p:nvSpPr>
          <p:cNvPr id="27" name="Text 24"/>
          <p:cNvSpPr/>
          <p:nvPr/>
        </p:nvSpPr>
        <p:spPr>
          <a:xfrm>
            <a:off x="428625" y="5629275"/>
            <a:ext cx="3829050" cy="171450"/>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 訪問者の目的（利用検討・支援・就職）に応じた情報提供を行う構成です。 </a:t>
            </a:r>
            <a:endParaRPr lang="en-US" sz="837" dirty="0"/>
          </a:p>
        </p:txBody>
      </p:sp>
      <p:sp>
        <p:nvSpPr>
          <p:cNvPr id="28" name="Shape 25"/>
          <p:cNvSpPr/>
          <p:nvPr/>
        </p:nvSpPr>
        <p:spPr>
          <a:xfrm>
            <a:off x="428625" y="5872163"/>
            <a:ext cx="1112444" cy="178594"/>
          </a:xfrm>
          <a:prstGeom prst="roundRect">
            <a:avLst/>
          </a:prstGeom>
          <a:solidFill>
            <a:srgbClr val="E6F2FF"/>
          </a:solidFill>
          <a:ln/>
        </p:spPr>
      </p:sp>
      <p:sp>
        <p:nvSpPr>
          <p:cNvPr id="29" name="Text 26"/>
          <p:cNvSpPr/>
          <p:nvPr/>
        </p:nvSpPr>
        <p:spPr>
          <a:xfrm>
            <a:off x="428625" y="5872163"/>
            <a:ext cx="1112444" cy="178594"/>
          </a:xfrm>
          <a:prstGeom prst="rect">
            <a:avLst/>
          </a:prstGeom>
          <a:noFill/>
          <a:ln/>
        </p:spPr>
        <p:txBody>
          <a:bodyPr wrap="none" lIns="68072" tIns="17018" rIns="68072" bIns="17018" rtlCol="0" anchor="ctr">
            <a:spAutoFit/>
          </a:bodyPr>
          <a:lstStyle/>
          <a:p>
            <a:pPr indent="0" marL="0">
              <a:buNone/>
            </a:pPr>
            <a:r>
              <a:rPr lang="en-US" sz="732" dirty="0">
                <a:solidFill>
                  <a:srgbClr val="4682B4"/>
                </a:solidFill>
                <a:latin typeface="Noto Sans" pitchFamily="34" charset="0"/>
                <a:ea typeface="Noto Sans" pitchFamily="34" charset="-122"/>
                <a:cs typeface="Noto Sans" pitchFamily="34" charset="-120"/>
              </a:rPr>
              <a:t>目的別ナビゲーション</a:t>
            </a:r>
            <a:endParaRPr lang="en-US" sz="732" dirty="0"/>
          </a:p>
        </p:txBody>
      </p:sp>
      <p:sp>
        <p:nvSpPr>
          <p:cNvPr id="30" name="Shape 27"/>
          <p:cNvSpPr/>
          <p:nvPr/>
        </p:nvSpPr>
        <p:spPr>
          <a:xfrm>
            <a:off x="1598219" y="5872163"/>
            <a:ext cx="1112444" cy="178594"/>
          </a:xfrm>
          <a:prstGeom prst="roundRect">
            <a:avLst/>
          </a:prstGeom>
          <a:solidFill>
            <a:srgbClr val="E6F2FF"/>
          </a:solidFill>
          <a:ln/>
        </p:spPr>
      </p:sp>
      <p:sp>
        <p:nvSpPr>
          <p:cNvPr id="31" name="Text 28"/>
          <p:cNvSpPr/>
          <p:nvPr/>
        </p:nvSpPr>
        <p:spPr>
          <a:xfrm>
            <a:off x="1598219" y="5872163"/>
            <a:ext cx="1112444" cy="178594"/>
          </a:xfrm>
          <a:prstGeom prst="rect">
            <a:avLst/>
          </a:prstGeom>
          <a:noFill/>
          <a:ln/>
        </p:spPr>
        <p:txBody>
          <a:bodyPr wrap="none" lIns="68072" tIns="17018" rIns="68072" bIns="17018" rtlCol="0" anchor="ctr">
            <a:spAutoFit/>
          </a:bodyPr>
          <a:lstStyle/>
          <a:p>
            <a:pPr indent="0" marL="0">
              <a:buNone/>
            </a:pPr>
            <a:r>
              <a:rPr lang="en-US" sz="732" dirty="0">
                <a:solidFill>
                  <a:srgbClr val="4682B4"/>
                </a:solidFill>
                <a:latin typeface="Noto Sans" pitchFamily="34" charset="0"/>
                <a:ea typeface="Noto Sans" pitchFamily="34" charset="-122"/>
                <a:cs typeface="Noto Sans" pitchFamily="34" charset="-120"/>
              </a:rPr>
              <a:t>コンバージョン率向上</a:t>
            </a:r>
            <a:endParaRPr lang="en-US" sz="732" dirty="0"/>
          </a:p>
        </p:txBody>
      </p:sp>
      <p:sp>
        <p:nvSpPr>
          <p:cNvPr id="32" name="Shape 29"/>
          <p:cNvSpPr/>
          <p:nvPr/>
        </p:nvSpPr>
        <p:spPr>
          <a:xfrm>
            <a:off x="2767812" y="5872163"/>
            <a:ext cx="1006432" cy="178594"/>
          </a:xfrm>
          <a:prstGeom prst="roundRect">
            <a:avLst/>
          </a:prstGeom>
          <a:solidFill>
            <a:srgbClr val="E6F2FF"/>
          </a:solidFill>
          <a:ln/>
        </p:spPr>
      </p:sp>
      <p:sp>
        <p:nvSpPr>
          <p:cNvPr id="33" name="Text 30"/>
          <p:cNvSpPr/>
          <p:nvPr/>
        </p:nvSpPr>
        <p:spPr>
          <a:xfrm>
            <a:off x="2767812" y="5872163"/>
            <a:ext cx="1006432" cy="178594"/>
          </a:xfrm>
          <a:prstGeom prst="rect">
            <a:avLst/>
          </a:prstGeom>
          <a:noFill/>
          <a:ln/>
        </p:spPr>
        <p:txBody>
          <a:bodyPr wrap="none" lIns="68072" tIns="17018" rIns="68072" bIns="17018" rtlCol="0" anchor="ctr">
            <a:spAutoFit/>
          </a:bodyPr>
          <a:lstStyle/>
          <a:p>
            <a:pPr indent="0" marL="0">
              <a:buNone/>
            </a:pPr>
            <a:r>
              <a:rPr lang="en-US" sz="732" dirty="0">
                <a:solidFill>
                  <a:srgbClr val="4682B4"/>
                </a:solidFill>
                <a:latin typeface="Noto Sans" pitchFamily="34" charset="0"/>
                <a:ea typeface="Noto Sans" pitchFamily="34" charset="-122"/>
                <a:cs typeface="Noto Sans" pitchFamily="34" charset="-120"/>
              </a:rPr>
              <a:t>ユーザビリティ重視</a:t>
            </a:r>
            <a:endParaRPr lang="en-US" sz="732" dirty="0"/>
          </a:p>
        </p:txBody>
      </p:sp>
      <p:sp>
        <p:nvSpPr>
          <p:cNvPr id="34" name="Text 31"/>
          <p:cNvSpPr/>
          <p:nvPr/>
        </p:nvSpPr>
        <p:spPr>
          <a:xfrm>
            <a:off x="4743450" y="957263"/>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構成案比較</a:t>
            </a:r>
            <a:endParaRPr lang="en-US" sz="1350" dirty="0"/>
          </a:p>
        </p:txBody>
      </p:sp>
      <p:sp>
        <p:nvSpPr>
          <p:cNvPr id="35" name="Shape 32"/>
          <p:cNvSpPr/>
          <p:nvPr/>
        </p:nvSpPr>
        <p:spPr>
          <a:xfrm>
            <a:off x="4743450" y="1321594"/>
            <a:ext cx="4114800" cy="2857500"/>
          </a:xfrm>
          <a:prstGeom prst="rect">
            <a:avLst/>
          </a:prstGeom>
          <a:solidFill>
            <a:srgbClr val="FFFFFF"/>
          </a:solidFill>
          <a:ln/>
        </p:spPr>
      </p:sp>
      <p:pic>
        <p:nvPicPr>
          <p:cNvPr id="36" name="Image 1" descr="preencoded.png">    </p:cNvPr>
          <p:cNvPicPr>
            <a:picLocks noChangeAspect="1"/>
          </p:cNvPicPr>
          <p:nvPr/>
        </p:nvPicPr>
        <p:blipFill>
          <a:blip r:embed="rId2"/>
          <a:stretch>
            <a:fillRect/>
          </a:stretch>
        </p:blipFill>
        <p:spPr>
          <a:xfrm>
            <a:off x="4886325" y="1464469"/>
            <a:ext cx="3829050" cy="2500313"/>
          </a:xfrm>
          <a:prstGeom prst="rect">
            <a:avLst/>
          </a:prstGeom>
        </p:spPr>
      </p:pic>
      <p:sp>
        <p:nvSpPr>
          <p:cNvPr id="37" name="Shape 33"/>
          <p:cNvSpPr/>
          <p:nvPr/>
        </p:nvSpPr>
        <p:spPr>
          <a:xfrm>
            <a:off x="4743450" y="4321969"/>
            <a:ext cx="4114800" cy="1771650"/>
          </a:xfrm>
          <a:prstGeom prst="rect">
            <a:avLst/>
          </a:prstGeom>
          <a:solidFill>
            <a:srgbClr val="FFFFFF"/>
          </a:solidFill>
          <a:ln/>
        </p:spPr>
      </p:sp>
      <p:sp>
        <p:nvSpPr>
          <p:cNvPr id="38" name="Text 34"/>
          <p:cNvSpPr/>
          <p:nvPr/>
        </p:nvSpPr>
        <p:spPr>
          <a:xfrm>
            <a:off x="4886325" y="4464844"/>
            <a:ext cx="3829050" cy="214313"/>
          </a:xfrm>
          <a:prstGeom prst="rect">
            <a:avLst/>
          </a:prstGeom>
          <a:noFill/>
          <a:ln/>
        </p:spPr>
        <p:txBody>
          <a:bodyPr wrap="none" lIns="0" tIns="0" rIns="0" bIns="0" rtlCol="0" anchor="ctr">
            <a:spAutoFit/>
          </a:bodyPr>
          <a:lstStyle/>
          <a:p>
            <a:pPr indent="0" marL="0">
              <a:buNone/>
            </a:pPr>
            <a:r>
              <a:rPr lang="en-US" sz="1046" b="1" dirty="0">
                <a:solidFill>
                  <a:srgbClr val="4682B4"/>
                </a:solidFill>
                <a:latin typeface="Noto Sans" pitchFamily="34" charset="0"/>
                <a:ea typeface="Noto Sans" pitchFamily="34" charset="-122"/>
                <a:cs typeface="Noto Sans" pitchFamily="34" charset="-120"/>
              </a:rPr>
              <a:t>必須ページの設計</a:t>
            </a:r>
            <a:endParaRPr lang="en-US" sz="1046" dirty="0"/>
          </a:p>
        </p:txBody>
      </p:sp>
      <p:sp>
        <p:nvSpPr>
          <p:cNvPr id="39" name="Text 35"/>
          <p:cNvSpPr/>
          <p:nvPr/>
        </p:nvSpPr>
        <p:spPr>
          <a:xfrm>
            <a:off x="5029200" y="4757738"/>
            <a:ext cx="79784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求人情報ページ</a:t>
            </a:r>
            <a:endParaRPr lang="en-US" sz="837" dirty="0"/>
          </a:p>
        </p:txBody>
      </p:sp>
      <p:sp>
        <p:nvSpPr>
          <p:cNvPr id="40" name="Text 36"/>
          <p:cNvSpPr/>
          <p:nvPr/>
        </p:nvSpPr>
        <p:spPr>
          <a:xfrm>
            <a:off x="5029200" y="4757738"/>
            <a:ext cx="3601399" cy="326827"/>
          </a:xfrm>
          <a:prstGeom prst="rect">
            <a:avLst/>
          </a:prstGeom>
          <a:noFill/>
          <a:ln/>
        </p:spPr>
        <p:txBody>
          <a:bodyPr wrap="squar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 職種別の募集要項、職員の声、研修制度、応募フォーム</a:t>
            </a:r>
            <a:endParaRPr lang="en-US" sz="837" dirty="0"/>
          </a:p>
        </p:txBody>
      </p:sp>
      <p:sp>
        <p:nvSpPr>
          <p:cNvPr id="41" name="Text 37"/>
          <p:cNvSpPr/>
          <p:nvPr/>
        </p:nvSpPr>
        <p:spPr>
          <a:xfrm>
            <a:off x="5029200" y="5157788"/>
            <a:ext cx="79784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寄付案内ページ</a:t>
            </a:r>
            <a:endParaRPr lang="en-US" sz="837" dirty="0"/>
          </a:p>
        </p:txBody>
      </p:sp>
      <p:sp>
        <p:nvSpPr>
          <p:cNvPr id="42" name="Text 38"/>
          <p:cNvSpPr/>
          <p:nvPr/>
        </p:nvSpPr>
        <p:spPr>
          <a:xfrm>
            <a:off x="5029200" y="5157788"/>
            <a:ext cx="3586776" cy="326827"/>
          </a:xfrm>
          <a:prstGeom prst="rect">
            <a:avLst/>
          </a:prstGeom>
          <a:noFill/>
          <a:ln/>
        </p:spPr>
        <p:txBody>
          <a:bodyPr wrap="squar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 寄付の必要性、使途、寄付方法（単発/継続）、税制優遇</a:t>
            </a:r>
            <a:endParaRPr lang="en-US" sz="837" dirty="0"/>
          </a:p>
        </p:txBody>
      </p:sp>
      <p:sp>
        <p:nvSpPr>
          <p:cNvPr id="43" name="Text 39"/>
          <p:cNvSpPr/>
          <p:nvPr/>
        </p:nvSpPr>
        <p:spPr>
          <a:xfrm>
            <a:off x="5029200" y="5557838"/>
            <a:ext cx="68354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各施設ページ</a:t>
            </a:r>
            <a:endParaRPr lang="en-US" sz="837" dirty="0"/>
          </a:p>
        </p:txBody>
      </p:sp>
      <p:sp>
        <p:nvSpPr>
          <p:cNvPr id="44" name="Text 40"/>
          <p:cNvSpPr/>
          <p:nvPr/>
        </p:nvSpPr>
        <p:spPr>
          <a:xfrm>
            <a:off x="5029200" y="5557838"/>
            <a:ext cx="3676827" cy="326827"/>
          </a:xfrm>
          <a:prstGeom prst="rect">
            <a:avLst/>
          </a:prstGeom>
          <a:noFill/>
          <a:ln/>
        </p:spPr>
        <p:txBody>
          <a:bodyPr wrap="squar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 ホーム概要、理念・方針、一日の流れ、設備・環境、スタッフ紹介</a:t>
            </a:r>
            <a:endParaRPr lang="en-US" sz="83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300788"/>
          </a:xfrm>
          <a:prstGeom prst="rect">
            <a:avLst/>
          </a:prstGeom>
        </p:spPr>
      </p:pic>
      <p:sp>
        <p:nvSpPr>
          <p:cNvPr id="3" name="Text 0"/>
          <p:cNvSpPr/>
          <p:nvPr/>
        </p:nvSpPr>
        <p:spPr>
          <a:xfrm>
            <a:off x="285750" y="285750"/>
            <a:ext cx="8572500" cy="478631"/>
          </a:xfrm>
          <a:prstGeom prst="rect">
            <a:avLst/>
          </a:prstGeom>
          <a:noFill/>
          <a:ln/>
        </p:spPr>
        <p:txBody>
          <a:bodyPr wrap="none" lIns="0" tIns="0" rIns="0" bIns="85090" rtlCol="0" anchor="ctr">
            <a:spAutoFit/>
          </a:bodyPr>
          <a:lstStyle/>
          <a:p>
            <a:pPr indent="0" marL="0">
              <a:buNone/>
            </a:pPr>
            <a:r>
              <a:rPr lang="en-US" sz="2025" b="1" dirty="0">
                <a:solidFill>
                  <a:srgbClr val="4682B4"/>
                </a:solidFill>
                <a:latin typeface="Noto Sans" pitchFamily="34" charset="0"/>
                <a:ea typeface="Noto Sans" pitchFamily="34" charset="-122"/>
                <a:cs typeface="Noto Sans" pitchFamily="34" charset="-120"/>
              </a:rPr>
              <a:t>必須ページの詳細設計</a:t>
            </a:r>
            <a:endParaRPr lang="en-US" sz="2025" dirty="0"/>
          </a:p>
        </p:txBody>
      </p:sp>
      <p:sp>
        <p:nvSpPr>
          <p:cNvPr id="4" name="Text 1"/>
          <p:cNvSpPr/>
          <p:nvPr/>
        </p:nvSpPr>
        <p:spPr>
          <a:xfrm>
            <a:off x="285750" y="885825"/>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求人情報ページ</a:t>
            </a:r>
            <a:endParaRPr lang="en-US" sz="1350" dirty="0"/>
          </a:p>
        </p:txBody>
      </p:sp>
      <p:sp>
        <p:nvSpPr>
          <p:cNvPr id="5" name="Shape 2"/>
          <p:cNvSpPr/>
          <p:nvPr/>
        </p:nvSpPr>
        <p:spPr>
          <a:xfrm>
            <a:off x="285750" y="1214438"/>
            <a:ext cx="4114800" cy="1553766"/>
          </a:xfrm>
          <a:prstGeom prst="rect">
            <a:avLst/>
          </a:prstGeom>
          <a:solidFill>
            <a:srgbClr val="FFFFFF"/>
          </a:solidFill>
          <a:ln/>
        </p:spPr>
      </p:sp>
      <p:sp>
        <p:nvSpPr>
          <p:cNvPr id="6" name="Shape 3"/>
          <p:cNvSpPr/>
          <p:nvPr/>
        </p:nvSpPr>
        <p:spPr>
          <a:xfrm>
            <a:off x="392906" y="1321594"/>
            <a:ext cx="257175" cy="257175"/>
          </a:xfrm>
          <a:prstGeom prst="ellipse">
            <a:avLst/>
          </a:prstGeom>
          <a:solidFill>
            <a:srgbClr val="4682B4"/>
          </a:solidFill>
          <a:ln/>
        </p:spPr>
      </p:sp>
      <p:pic>
        <p:nvPicPr>
          <p:cNvPr id="7" name="Image 1" descr="preencoded.png">    </p:cNvPr>
          <p:cNvPicPr>
            <a:picLocks noChangeAspect="1"/>
          </p:cNvPicPr>
          <p:nvPr/>
        </p:nvPicPr>
        <p:blipFill>
          <a:blip r:embed="rId2"/>
          <a:stretch>
            <a:fillRect/>
          </a:stretch>
        </p:blipFill>
        <p:spPr>
          <a:xfrm>
            <a:off x="457200" y="1385888"/>
            <a:ext cx="128588" cy="128588"/>
          </a:xfrm>
          <a:prstGeom prst="rect">
            <a:avLst/>
          </a:prstGeom>
        </p:spPr>
      </p:pic>
      <p:sp>
        <p:nvSpPr>
          <p:cNvPr id="8" name="Text 4"/>
          <p:cNvSpPr/>
          <p:nvPr/>
        </p:nvSpPr>
        <p:spPr>
          <a:xfrm>
            <a:off x="757238" y="1321594"/>
            <a:ext cx="3536156"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目的</a:t>
            </a:r>
            <a:endParaRPr lang="en-US" sz="942" dirty="0"/>
          </a:p>
        </p:txBody>
      </p:sp>
      <p:sp>
        <p:nvSpPr>
          <p:cNvPr id="9" name="Text 5"/>
          <p:cNvSpPr/>
          <p:nvPr/>
        </p:nvSpPr>
        <p:spPr>
          <a:xfrm>
            <a:off x="757238" y="1550194"/>
            <a:ext cx="3536156" cy="150019"/>
          </a:xfrm>
          <a:prstGeom prst="rect">
            <a:avLst/>
          </a:prstGeom>
          <a:noFill/>
          <a:ln/>
        </p:spPr>
        <p:txBody>
          <a:bodyPr wrap="none" lIns="0" tIns="0" rIns="0" bIns="0" rtlCol="0" anchor="ctr">
            <a:spAutoFit/>
          </a:bodyPr>
          <a:lstStyle/>
          <a:p>
            <a:pPr indent="0" marL="0">
              <a:buNone/>
            </a:pPr>
            <a:r>
              <a:rPr lang="en-US" sz="785" dirty="0">
                <a:solidFill>
                  <a:srgbClr val="333333"/>
                </a:solidFill>
                <a:latin typeface="Noto Sans" pitchFamily="34" charset="0"/>
                <a:ea typeface="Noto Sans" pitchFamily="34" charset="-122"/>
                <a:cs typeface="Noto Sans" pitchFamily="34" charset="-120"/>
              </a:rPr>
              <a:t>優秀な人材の確保、法人の魅力と働きがいの訴求</a:t>
            </a:r>
            <a:endParaRPr lang="en-US" sz="785" dirty="0"/>
          </a:p>
        </p:txBody>
      </p:sp>
      <p:sp>
        <p:nvSpPr>
          <p:cNvPr id="10" name="Shape 6"/>
          <p:cNvSpPr/>
          <p:nvPr/>
        </p:nvSpPr>
        <p:spPr>
          <a:xfrm>
            <a:off x="392906" y="1771650"/>
            <a:ext cx="257175" cy="257175"/>
          </a:xfrm>
          <a:prstGeom prst="ellipse">
            <a:avLst/>
          </a:prstGeom>
          <a:solidFill>
            <a:srgbClr val="4682B4"/>
          </a:solidFill>
          <a:ln/>
        </p:spPr>
      </p:sp>
      <p:pic>
        <p:nvPicPr>
          <p:cNvPr id="11" name="Image 2" descr="preencoded.png">    </p:cNvPr>
          <p:cNvPicPr>
            <a:picLocks noChangeAspect="1"/>
          </p:cNvPicPr>
          <p:nvPr/>
        </p:nvPicPr>
        <p:blipFill>
          <a:blip r:embed="rId3"/>
          <a:stretch>
            <a:fillRect/>
          </a:stretch>
        </p:blipFill>
        <p:spPr>
          <a:xfrm>
            <a:off x="457200" y="1835944"/>
            <a:ext cx="128588" cy="128588"/>
          </a:xfrm>
          <a:prstGeom prst="rect">
            <a:avLst/>
          </a:prstGeom>
        </p:spPr>
      </p:pic>
      <p:sp>
        <p:nvSpPr>
          <p:cNvPr id="12" name="Text 7"/>
          <p:cNvSpPr/>
          <p:nvPr/>
        </p:nvSpPr>
        <p:spPr>
          <a:xfrm>
            <a:off x="757238" y="1771650"/>
            <a:ext cx="3536156"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主要コンテンツ</a:t>
            </a:r>
            <a:endParaRPr lang="en-US" sz="942" dirty="0"/>
          </a:p>
        </p:txBody>
      </p:sp>
      <p:sp>
        <p:nvSpPr>
          <p:cNvPr id="13" name="Text 8"/>
          <p:cNvSpPr/>
          <p:nvPr/>
        </p:nvSpPr>
        <p:spPr>
          <a:xfrm>
            <a:off x="900113" y="2007394"/>
            <a:ext cx="428625"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募集職種</a:t>
            </a:r>
            <a:endParaRPr lang="en-US" sz="785" dirty="0"/>
          </a:p>
        </p:txBody>
      </p:sp>
      <p:sp>
        <p:nvSpPr>
          <p:cNvPr id="14" name="Text 9"/>
          <p:cNvSpPr/>
          <p:nvPr/>
        </p:nvSpPr>
        <p:spPr>
          <a:xfrm>
            <a:off x="1328738" y="2007394"/>
            <a:ext cx="1285875"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：生活支援員、相談員など</a:t>
            </a:r>
            <a:endParaRPr lang="en-US" sz="785" dirty="0"/>
          </a:p>
        </p:txBody>
      </p:sp>
      <p:sp>
        <p:nvSpPr>
          <p:cNvPr id="15" name="Text 10"/>
          <p:cNvSpPr/>
          <p:nvPr/>
        </p:nvSpPr>
        <p:spPr>
          <a:xfrm>
            <a:off x="900113" y="2203847"/>
            <a:ext cx="428625"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職員の声</a:t>
            </a:r>
            <a:endParaRPr lang="en-US" sz="785" dirty="0"/>
          </a:p>
        </p:txBody>
      </p:sp>
      <p:sp>
        <p:nvSpPr>
          <p:cNvPr id="16" name="Text 11"/>
          <p:cNvSpPr/>
          <p:nvPr/>
        </p:nvSpPr>
        <p:spPr>
          <a:xfrm>
            <a:off x="1328738" y="2203847"/>
            <a:ext cx="1607344"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：実際に働く職員のインタビュー</a:t>
            </a:r>
            <a:endParaRPr lang="en-US" sz="785" dirty="0"/>
          </a:p>
        </p:txBody>
      </p:sp>
      <p:sp>
        <p:nvSpPr>
          <p:cNvPr id="17" name="Text 12"/>
          <p:cNvSpPr/>
          <p:nvPr/>
        </p:nvSpPr>
        <p:spPr>
          <a:xfrm>
            <a:off x="900113" y="2400300"/>
            <a:ext cx="428625"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応募方法</a:t>
            </a:r>
            <a:endParaRPr lang="en-US" sz="785" dirty="0"/>
          </a:p>
        </p:txBody>
      </p:sp>
      <p:sp>
        <p:nvSpPr>
          <p:cNvPr id="18" name="Text 13"/>
          <p:cNvSpPr/>
          <p:nvPr/>
        </p:nvSpPr>
        <p:spPr>
          <a:xfrm>
            <a:off x="1328738" y="2400300"/>
            <a:ext cx="1496978"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：応募フォーム、選考プロセス</a:t>
            </a:r>
            <a:endParaRPr lang="en-US" sz="785" dirty="0"/>
          </a:p>
        </p:txBody>
      </p:sp>
      <p:sp>
        <p:nvSpPr>
          <p:cNvPr id="19" name="Text 14"/>
          <p:cNvSpPr/>
          <p:nvPr/>
        </p:nvSpPr>
        <p:spPr>
          <a:xfrm>
            <a:off x="285750" y="2875359"/>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寄付案内ページ</a:t>
            </a:r>
            <a:endParaRPr lang="en-US" sz="1350" dirty="0"/>
          </a:p>
        </p:txBody>
      </p:sp>
      <p:sp>
        <p:nvSpPr>
          <p:cNvPr id="20" name="Shape 15"/>
          <p:cNvSpPr/>
          <p:nvPr/>
        </p:nvSpPr>
        <p:spPr>
          <a:xfrm>
            <a:off x="285750" y="3203972"/>
            <a:ext cx="4114800" cy="1553766"/>
          </a:xfrm>
          <a:prstGeom prst="rect">
            <a:avLst/>
          </a:prstGeom>
          <a:solidFill>
            <a:srgbClr val="FFFFFF"/>
          </a:solidFill>
          <a:ln/>
        </p:spPr>
      </p:sp>
      <p:sp>
        <p:nvSpPr>
          <p:cNvPr id="21" name="Shape 16"/>
          <p:cNvSpPr/>
          <p:nvPr/>
        </p:nvSpPr>
        <p:spPr>
          <a:xfrm>
            <a:off x="392906" y="3311128"/>
            <a:ext cx="257175" cy="257175"/>
          </a:xfrm>
          <a:prstGeom prst="ellipse">
            <a:avLst/>
          </a:prstGeom>
          <a:solidFill>
            <a:srgbClr val="4682B4"/>
          </a:solidFill>
          <a:ln/>
        </p:spPr>
      </p:sp>
      <p:pic>
        <p:nvPicPr>
          <p:cNvPr id="22" name="Image 3" descr="preencoded.png">    </p:cNvPr>
          <p:cNvPicPr>
            <a:picLocks noChangeAspect="1"/>
          </p:cNvPicPr>
          <p:nvPr/>
        </p:nvPicPr>
        <p:blipFill>
          <a:blip r:embed="rId4"/>
          <a:stretch>
            <a:fillRect/>
          </a:stretch>
        </p:blipFill>
        <p:spPr>
          <a:xfrm>
            <a:off x="457200" y="3375422"/>
            <a:ext cx="128588" cy="128588"/>
          </a:xfrm>
          <a:prstGeom prst="rect">
            <a:avLst/>
          </a:prstGeom>
        </p:spPr>
      </p:pic>
      <p:sp>
        <p:nvSpPr>
          <p:cNvPr id="23" name="Text 17"/>
          <p:cNvSpPr/>
          <p:nvPr/>
        </p:nvSpPr>
        <p:spPr>
          <a:xfrm>
            <a:off x="757238" y="3311128"/>
            <a:ext cx="3536156"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目的</a:t>
            </a:r>
            <a:endParaRPr lang="en-US" sz="942" dirty="0"/>
          </a:p>
        </p:txBody>
      </p:sp>
      <p:sp>
        <p:nvSpPr>
          <p:cNvPr id="24" name="Text 18"/>
          <p:cNvSpPr/>
          <p:nvPr/>
        </p:nvSpPr>
        <p:spPr>
          <a:xfrm>
            <a:off x="757238" y="3539728"/>
            <a:ext cx="3536156" cy="150019"/>
          </a:xfrm>
          <a:prstGeom prst="rect">
            <a:avLst/>
          </a:prstGeom>
          <a:noFill/>
          <a:ln/>
        </p:spPr>
        <p:txBody>
          <a:bodyPr wrap="none" lIns="0" tIns="0" rIns="0" bIns="0" rtlCol="0" anchor="ctr">
            <a:spAutoFit/>
          </a:bodyPr>
          <a:lstStyle/>
          <a:p>
            <a:pPr indent="0" marL="0">
              <a:buNone/>
            </a:pPr>
            <a:r>
              <a:rPr lang="en-US" sz="785" dirty="0">
                <a:solidFill>
                  <a:srgbClr val="333333"/>
                </a:solidFill>
                <a:latin typeface="Noto Sans" pitchFamily="34" charset="0"/>
                <a:ea typeface="Noto Sans" pitchFamily="34" charset="-122"/>
                <a:cs typeface="Noto Sans" pitchFamily="34" charset="-120"/>
              </a:rPr>
              <a:t>継続的な資金調達、支援者との関係構築</a:t>
            </a:r>
            <a:endParaRPr lang="en-US" sz="785" dirty="0"/>
          </a:p>
        </p:txBody>
      </p:sp>
      <p:sp>
        <p:nvSpPr>
          <p:cNvPr id="25" name="Shape 19"/>
          <p:cNvSpPr/>
          <p:nvPr/>
        </p:nvSpPr>
        <p:spPr>
          <a:xfrm>
            <a:off x="392906" y="3761184"/>
            <a:ext cx="257175" cy="257175"/>
          </a:xfrm>
          <a:prstGeom prst="ellipse">
            <a:avLst/>
          </a:prstGeom>
          <a:solidFill>
            <a:srgbClr val="4682B4"/>
          </a:solidFill>
          <a:ln/>
        </p:spPr>
      </p:sp>
      <p:pic>
        <p:nvPicPr>
          <p:cNvPr id="26" name="Image 4" descr="preencoded.png">    </p:cNvPr>
          <p:cNvPicPr>
            <a:picLocks noChangeAspect="1"/>
          </p:cNvPicPr>
          <p:nvPr/>
        </p:nvPicPr>
        <p:blipFill>
          <a:blip r:embed="rId5"/>
          <a:stretch>
            <a:fillRect/>
          </a:stretch>
        </p:blipFill>
        <p:spPr>
          <a:xfrm>
            <a:off x="457200" y="3825478"/>
            <a:ext cx="128588" cy="128588"/>
          </a:xfrm>
          <a:prstGeom prst="rect">
            <a:avLst/>
          </a:prstGeom>
        </p:spPr>
      </p:pic>
      <p:sp>
        <p:nvSpPr>
          <p:cNvPr id="27" name="Text 20"/>
          <p:cNvSpPr/>
          <p:nvPr/>
        </p:nvSpPr>
        <p:spPr>
          <a:xfrm>
            <a:off x="757238" y="3761184"/>
            <a:ext cx="3536156"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主要コンテンツ</a:t>
            </a:r>
            <a:endParaRPr lang="en-US" sz="942" dirty="0"/>
          </a:p>
        </p:txBody>
      </p:sp>
      <p:sp>
        <p:nvSpPr>
          <p:cNvPr id="28" name="Text 21"/>
          <p:cNvSpPr/>
          <p:nvPr/>
        </p:nvSpPr>
        <p:spPr>
          <a:xfrm>
            <a:off x="900113" y="3996928"/>
            <a:ext cx="642938"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寄付の必要性</a:t>
            </a:r>
            <a:endParaRPr lang="en-US" sz="785" dirty="0"/>
          </a:p>
        </p:txBody>
      </p:sp>
      <p:sp>
        <p:nvSpPr>
          <p:cNvPr id="29" name="Text 22"/>
          <p:cNvSpPr/>
          <p:nvPr/>
        </p:nvSpPr>
        <p:spPr>
          <a:xfrm>
            <a:off x="1543050" y="3996928"/>
            <a:ext cx="964406"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：なぜ寄付が必要か</a:t>
            </a:r>
            <a:endParaRPr lang="en-US" sz="785" dirty="0"/>
          </a:p>
        </p:txBody>
      </p:sp>
      <p:sp>
        <p:nvSpPr>
          <p:cNvPr id="30" name="Text 23"/>
          <p:cNvSpPr/>
          <p:nvPr/>
        </p:nvSpPr>
        <p:spPr>
          <a:xfrm>
            <a:off x="900113" y="4193381"/>
            <a:ext cx="535781"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寄付の使途</a:t>
            </a:r>
            <a:endParaRPr lang="en-US" sz="785" dirty="0"/>
          </a:p>
        </p:txBody>
      </p:sp>
      <p:sp>
        <p:nvSpPr>
          <p:cNvPr id="31" name="Text 24"/>
          <p:cNvSpPr/>
          <p:nvPr/>
        </p:nvSpPr>
        <p:spPr>
          <a:xfrm>
            <a:off x="1435894" y="4193381"/>
            <a:ext cx="857250"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：具体的な使い道</a:t>
            </a:r>
            <a:endParaRPr lang="en-US" sz="785" dirty="0"/>
          </a:p>
        </p:txBody>
      </p:sp>
      <p:sp>
        <p:nvSpPr>
          <p:cNvPr id="32" name="Text 25"/>
          <p:cNvSpPr/>
          <p:nvPr/>
        </p:nvSpPr>
        <p:spPr>
          <a:xfrm>
            <a:off x="900113" y="4389834"/>
            <a:ext cx="428625"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寄付方法</a:t>
            </a:r>
            <a:endParaRPr lang="en-US" sz="785" dirty="0"/>
          </a:p>
        </p:txBody>
      </p:sp>
      <p:sp>
        <p:nvSpPr>
          <p:cNvPr id="33" name="Text 26"/>
          <p:cNvSpPr/>
          <p:nvPr/>
        </p:nvSpPr>
        <p:spPr>
          <a:xfrm>
            <a:off x="1328738" y="4389834"/>
            <a:ext cx="1325752"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：単発/継続寄付、決済方法</a:t>
            </a:r>
            <a:endParaRPr lang="en-US" sz="785" dirty="0"/>
          </a:p>
        </p:txBody>
      </p:sp>
      <p:sp>
        <p:nvSpPr>
          <p:cNvPr id="34" name="Text 27"/>
          <p:cNvSpPr/>
          <p:nvPr/>
        </p:nvSpPr>
        <p:spPr>
          <a:xfrm>
            <a:off x="4743450" y="885825"/>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各施設ページ</a:t>
            </a:r>
            <a:endParaRPr lang="en-US" sz="1350" dirty="0"/>
          </a:p>
        </p:txBody>
      </p:sp>
      <p:sp>
        <p:nvSpPr>
          <p:cNvPr id="35" name="Shape 28"/>
          <p:cNvSpPr/>
          <p:nvPr/>
        </p:nvSpPr>
        <p:spPr>
          <a:xfrm>
            <a:off x="4743450" y="1214438"/>
            <a:ext cx="4114800" cy="1553766"/>
          </a:xfrm>
          <a:prstGeom prst="rect">
            <a:avLst/>
          </a:prstGeom>
          <a:solidFill>
            <a:srgbClr val="FFFFFF"/>
          </a:solidFill>
          <a:ln/>
        </p:spPr>
      </p:sp>
      <p:sp>
        <p:nvSpPr>
          <p:cNvPr id="36" name="Shape 29"/>
          <p:cNvSpPr/>
          <p:nvPr/>
        </p:nvSpPr>
        <p:spPr>
          <a:xfrm>
            <a:off x="4850606" y="1321594"/>
            <a:ext cx="257175" cy="257175"/>
          </a:xfrm>
          <a:prstGeom prst="ellipse">
            <a:avLst/>
          </a:prstGeom>
          <a:solidFill>
            <a:srgbClr val="4682B4"/>
          </a:solidFill>
          <a:ln/>
        </p:spPr>
      </p:sp>
      <p:pic>
        <p:nvPicPr>
          <p:cNvPr id="37" name="Image 5" descr="preencoded.png">    </p:cNvPr>
          <p:cNvPicPr>
            <a:picLocks noChangeAspect="1"/>
          </p:cNvPicPr>
          <p:nvPr/>
        </p:nvPicPr>
        <p:blipFill>
          <a:blip r:embed="rId6"/>
          <a:stretch>
            <a:fillRect/>
          </a:stretch>
        </p:blipFill>
        <p:spPr>
          <a:xfrm>
            <a:off x="4914900" y="1385888"/>
            <a:ext cx="128588" cy="128588"/>
          </a:xfrm>
          <a:prstGeom prst="rect">
            <a:avLst/>
          </a:prstGeom>
        </p:spPr>
      </p:pic>
      <p:sp>
        <p:nvSpPr>
          <p:cNvPr id="38" name="Text 30"/>
          <p:cNvSpPr/>
          <p:nvPr/>
        </p:nvSpPr>
        <p:spPr>
          <a:xfrm>
            <a:off x="5214938" y="1321594"/>
            <a:ext cx="3536156"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目的</a:t>
            </a:r>
            <a:endParaRPr lang="en-US" sz="942" dirty="0"/>
          </a:p>
        </p:txBody>
      </p:sp>
      <p:sp>
        <p:nvSpPr>
          <p:cNvPr id="39" name="Text 31"/>
          <p:cNvSpPr/>
          <p:nvPr/>
        </p:nvSpPr>
        <p:spPr>
          <a:xfrm>
            <a:off x="5214938" y="1550194"/>
            <a:ext cx="3536156" cy="150019"/>
          </a:xfrm>
          <a:prstGeom prst="rect">
            <a:avLst/>
          </a:prstGeom>
          <a:noFill/>
          <a:ln/>
        </p:spPr>
        <p:txBody>
          <a:bodyPr wrap="none" lIns="0" tIns="0" rIns="0" bIns="0" rtlCol="0" anchor="ctr">
            <a:spAutoFit/>
          </a:bodyPr>
          <a:lstStyle/>
          <a:p>
            <a:pPr indent="0" marL="0">
              <a:buNone/>
            </a:pPr>
            <a:r>
              <a:rPr lang="en-US" sz="785" dirty="0">
                <a:solidFill>
                  <a:srgbClr val="333333"/>
                </a:solidFill>
                <a:latin typeface="Noto Sans" pitchFamily="34" charset="0"/>
                <a:ea typeface="Noto Sans" pitchFamily="34" charset="-122"/>
                <a:cs typeface="Noto Sans" pitchFamily="34" charset="-120"/>
              </a:rPr>
              <a:t>各ホームの特色と魅力の紹介、入居検討者への情報提供</a:t>
            </a:r>
            <a:endParaRPr lang="en-US" sz="785" dirty="0"/>
          </a:p>
        </p:txBody>
      </p:sp>
      <p:sp>
        <p:nvSpPr>
          <p:cNvPr id="40" name="Shape 32"/>
          <p:cNvSpPr/>
          <p:nvPr/>
        </p:nvSpPr>
        <p:spPr>
          <a:xfrm>
            <a:off x="4850606" y="1771650"/>
            <a:ext cx="257175" cy="257175"/>
          </a:xfrm>
          <a:prstGeom prst="ellipse">
            <a:avLst/>
          </a:prstGeom>
          <a:solidFill>
            <a:srgbClr val="4682B4"/>
          </a:solidFill>
          <a:ln/>
        </p:spPr>
      </p:sp>
      <p:pic>
        <p:nvPicPr>
          <p:cNvPr id="41" name="Image 6" descr="preencoded.png">    </p:cNvPr>
          <p:cNvPicPr>
            <a:picLocks noChangeAspect="1"/>
          </p:cNvPicPr>
          <p:nvPr/>
        </p:nvPicPr>
        <p:blipFill>
          <a:blip r:embed="rId7"/>
          <a:stretch>
            <a:fillRect/>
          </a:stretch>
        </p:blipFill>
        <p:spPr>
          <a:xfrm>
            <a:off x="4914900" y="1835944"/>
            <a:ext cx="128588" cy="128588"/>
          </a:xfrm>
          <a:prstGeom prst="rect">
            <a:avLst/>
          </a:prstGeom>
        </p:spPr>
      </p:pic>
      <p:sp>
        <p:nvSpPr>
          <p:cNvPr id="42" name="Text 33"/>
          <p:cNvSpPr/>
          <p:nvPr/>
        </p:nvSpPr>
        <p:spPr>
          <a:xfrm>
            <a:off x="5214938" y="1771650"/>
            <a:ext cx="3536156"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共通コンテンツ</a:t>
            </a:r>
            <a:endParaRPr lang="en-US" sz="942" dirty="0"/>
          </a:p>
        </p:txBody>
      </p:sp>
      <p:sp>
        <p:nvSpPr>
          <p:cNvPr id="43" name="Text 34"/>
          <p:cNvSpPr/>
          <p:nvPr/>
        </p:nvSpPr>
        <p:spPr>
          <a:xfrm>
            <a:off x="5357813" y="2007394"/>
            <a:ext cx="532572"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ホーム概要</a:t>
            </a:r>
            <a:endParaRPr lang="en-US" sz="785" dirty="0"/>
          </a:p>
        </p:txBody>
      </p:sp>
      <p:sp>
        <p:nvSpPr>
          <p:cNvPr id="44" name="Text 35"/>
          <p:cNvSpPr/>
          <p:nvPr/>
        </p:nvSpPr>
        <p:spPr>
          <a:xfrm>
            <a:off x="5890385" y="2007394"/>
            <a:ext cx="1178719"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：設立年、定員、対象者</a:t>
            </a:r>
            <a:endParaRPr lang="en-US" sz="785" dirty="0"/>
          </a:p>
        </p:txBody>
      </p:sp>
      <p:sp>
        <p:nvSpPr>
          <p:cNvPr id="45" name="Text 36"/>
          <p:cNvSpPr/>
          <p:nvPr/>
        </p:nvSpPr>
        <p:spPr>
          <a:xfrm>
            <a:off x="5357813" y="2203847"/>
            <a:ext cx="535781"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一日の流れ</a:t>
            </a:r>
            <a:endParaRPr lang="en-US" sz="785" dirty="0"/>
          </a:p>
        </p:txBody>
      </p:sp>
      <p:sp>
        <p:nvSpPr>
          <p:cNvPr id="46" name="Text 37"/>
          <p:cNvSpPr/>
          <p:nvPr/>
        </p:nvSpPr>
        <p:spPr>
          <a:xfrm>
            <a:off x="5893594" y="2203847"/>
            <a:ext cx="1421969"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：平日・休日のスケジュール例</a:t>
            </a:r>
            <a:endParaRPr lang="en-US" sz="785" dirty="0"/>
          </a:p>
        </p:txBody>
      </p:sp>
      <p:sp>
        <p:nvSpPr>
          <p:cNvPr id="47" name="Text 38"/>
          <p:cNvSpPr/>
          <p:nvPr/>
        </p:nvSpPr>
        <p:spPr>
          <a:xfrm>
            <a:off x="5357813" y="2400300"/>
            <a:ext cx="428625"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支援内容</a:t>
            </a:r>
            <a:endParaRPr lang="en-US" sz="785" dirty="0"/>
          </a:p>
        </p:txBody>
      </p:sp>
      <p:sp>
        <p:nvSpPr>
          <p:cNvPr id="48" name="Text 39"/>
          <p:cNvSpPr/>
          <p:nvPr/>
        </p:nvSpPr>
        <p:spPr>
          <a:xfrm>
            <a:off x="5786438" y="2400300"/>
            <a:ext cx="1071563"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：生活支援、就労支援</a:t>
            </a:r>
            <a:endParaRPr lang="en-US" sz="785" dirty="0"/>
          </a:p>
        </p:txBody>
      </p:sp>
      <p:sp>
        <p:nvSpPr>
          <p:cNvPr id="49" name="Shape 40"/>
          <p:cNvSpPr/>
          <p:nvPr/>
        </p:nvSpPr>
        <p:spPr>
          <a:xfrm>
            <a:off x="4743450" y="2875359"/>
            <a:ext cx="4114800" cy="1785938"/>
          </a:xfrm>
          <a:prstGeom prst="rect">
            <a:avLst/>
          </a:prstGeom>
          <a:solidFill>
            <a:srgbClr val="FFFFFF"/>
          </a:solidFill>
          <a:ln/>
        </p:spPr>
      </p:sp>
      <p:pic>
        <p:nvPicPr>
          <p:cNvPr id="50" name="Image 7" descr="preencoded.png">    </p:cNvPr>
          <p:cNvPicPr>
            <a:picLocks noChangeAspect="1"/>
          </p:cNvPicPr>
          <p:nvPr/>
        </p:nvPicPr>
        <p:blipFill>
          <a:blip r:embed="rId8"/>
          <a:stretch>
            <a:fillRect/>
          </a:stretch>
        </p:blipFill>
        <p:spPr>
          <a:xfrm>
            <a:off x="4850606" y="2982516"/>
            <a:ext cx="3900488" cy="1643063"/>
          </a:xfrm>
          <a:prstGeom prst="rect">
            <a:avLst/>
          </a:prstGeom>
        </p:spPr>
      </p:pic>
      <p:sp>
        <p:nvSpPr>
          <p:cNvPr id="51" name="Shape 41"/>
          <p:cNvSpPr/>
          <p:nvPr/>
        </p:nvSpPr>
        <p:spPr>
          <a:xfrm>
            <a:off x="4743450" y="4768453"/>
            <a:ext cx="4114800" cy="1117997"/>
          </a:xfrm>
          <a:prstGeom prst="rect">
            <a:avLst/>
          </a:prstGeom>
          <a:solidFill>
            <a:srgbClr val="FFFFFF"/>
          </a:solidFill>
          <a:ln/>
        </p:spPr>
      </p:sp>
      <p:sp>
        <p:nvSpPr>
          <p:cNvPr id="52" name="Text 42"/>
          <p:cNvSpPr/>
          <p:nvPr/>
        </p:nvSpPr>
        <p:spPr>
          <a:xfrm>
            <a:off x="4850606" y="4875609"/>
            <a:ext cx="3900488" cy="214313"/>
          </a:xfrm>
          <a:prstGeom prst="rect">
            <a:avLst/>
          </a:prstGeom>
          <a:noFill/>
          <a:ln/>
        </p:spPr>
        <p:txBody>
          <a:bodyPr wrap="none" lIns="0" tIns="0" rIns="0" bIns="0" rtlCol="0" anchor="ctr">
            <a:spAutoFit/>
          </a:bodyPr>
          <a:lstStyle/>
          <a:p>
            <a:pPr indent="0" marL="0">
              <a:buNone/>
            </a:pPr>
            <a:r>
              <a:rPr lang="en-US" sz="1046" b="1" dirty="0">
                <a:solidFill>
                  <a:srgbClr val="4682B4"/>
                </a:solidFill>
                <a:latin typeface="Noto Sans" pitchFamily="34" charset="0"/>
                <a:ea typeface="Noto Sans" pitchFamily="34" charset="-122"/>
                <a:cs typeface="Noto Sans" pitchFamily="34" charset="-120"/>
              </a:rPr>
              <a:t>デザインポイント</a:t>
            </a:r>
            <a:endParaRPr lang="en-US" sz="1046" dirty="0"/>
          </a:p>
        </p:txBody>
      </p:sp>
      <p:sp>
        <p:nvSpPr>
          <p:cNvPr id="53" name="Text 43"/>
          <p:cNvSpPr/>
          <p:nvPr/>
        </p:nvSpPr>
        <p:spPr>
          <a:xfrm>
            <a:off x="4993481" y="5132784"/>
            <a:ext cx="857250"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温かみのある写真</a:t>
            </a:r>
            <a:endParaRPr lang="en-US" sz="785" dirty="0"/>
          </a:p>
        </p:txBody>
      </p:sp>
      <p:sp>
        <p:nvSpPr>
          <p:cNvPr id="54" name="Text 44"/>
          <p:cNvSpPr/>
          <p:nvPr/>
        </p:nvSpPr>
        <p:spPr>
          <a:xfrm>
            <a:off x="5850731" y="5132784"/>
            <a:ext cx="1393031"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：職員の笑顔、施設の雰囲気</a:t>
            </a:r>
            <a:endParaRPr lang="en-US" sz="785" dirty="0"/>
          </a:p>
        </p:txBody>
      </p:sp>
      <p:sp>
        <p:nvSpPr>
          <p:cNvPr id="55" name="Text 45"/>
          <p:cNvSpPr/>
          <p:nvPr/>
        </p:nvSpPr>
        <p:spPr>
          <a:xfrm>
            <a:off x="4993481" y="5350669"/>
            <a:ext cx="1071563"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読みやすいレイアウト</a:t>
            </a:r>
            <a:endParaRPr lang="en-US" sz="785" dirty="0"/>
          </a:p>
        </p:txBody>
      </p:sp>
      <p:sp>
        <p:nvSpPr>
          <p:cNvPr id="56" name="Text 46"/>
          <p:cNvSpPr/>
          <p:nvPr/>
        </p:nvSpPr>
        <p:spPr>
          <a:xfrm>
            <a:off x="6065044" y="5350669"/>
            <a:ext cx="1071563"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：情報の整理と階層化</a:t>
            </a:r>
            <a:endParaRPr lang="en-US" sz="785" dirty="0"/>
          </a:p>
        </p:txBody>
      </p:sp>
      <p:sp>
        <p:nvSpPr>
          <p:cNvPr id="57" name="Text 47"/>
          <p:cNvSpPr/>
          <p:nvPr/>
        </p:nvSpPr>
        <p:spPr>
          <a:xfrm>
            <a:off x="4993481" y="5568553"/>
            <a:ext cx="851892" cy="146447"/>
          </a:xfrm>
          <a:prstGeom prst="rect">
            <a:avLst/>
          </a:prstGeom>
          <a:noFill/>
          <a:ln/>
        </p:spPr>
        <p:txBody>
          <a:bodyPr wrap="none" lIns="0" tIns="0" rIns="0" bIns="0" rtlCol="0" anchor="ctr">
            <a:spAutoFit/>
          </a:bodyPr>
          <a:lstStyle/>
          <a:p>
            <a:pPr algn="l" indent="0" marL="0">
              <a:buNone/>
            </a:pPr>
            <a:r>
              <a:rPr lang="en-US" sz="785" b="1" dirty="0">
                <a:solidFill>
                  <a:srgbClr val="FF6347"/>
                </a:solidFill>
                <a:latin typeface="Noto Sans" pitchFamily="34" charset="0"/>
                <a:ea typeface="Noto Sans" pitchFamily="34" charset="-122"/>
                <a:cs typeface="Noto Sans" pitchFamily="34" charset="-120"/>
              </a:rPr>
              <a:t>アクションボタン</a:t>
            </a:r>
            <a:endParaRPr lang="en-US" sz="785" dirty="0"/>
          </a:p>
        </p:txBody>
      </p:sp>
      <p:sp>
        <p:nvSpPr>
          <p:cNvPr id="58" name="Text 48"/>
          <p:cNvSpPr/>
          <p:nvPr/>
        </p:nvSpPr>
        <p:spPr>
          <a:xfrm>
            <a:off x="5845373" y="5568553"/>
            <a:ext cx="1000851" cy="146447"/>
          </a:xfrm>
          <a:prstGeom prst="rect">
            <a:avLst/>
          </a:prstGeom>
          <a:noFill/>
          <a:ln/>
        </p:spPr>
        <p:txBody>
          <a:bodyPr wrap="none" lIns="0" tIns="0" rIns="0" bIns="0" rtlCol="0" anchor="ctr">
            <a:spAutoFit/>
          </a:bodyPr>
          <a:lstStyle/>
          <a:p>
            <a:pPr algn="l" indent="0" marL="0">
              <a:buNone/>
            </a:pPr>
            <a:r>
              <a:rPr lang="en-US" sz="785" dirty="0">
                <a:solidFill>
                  <a:srgbClr val="333333"/>
                </a:solidFill>
                <a:latin typeface="Noto Sans" pitchFamily="34" charset="0"/>
                <a:ea typeface="Noto Sans" pitchFamily="34" charset="-122"/>
                <a:cs typeface="Noto Sans" pitchFamily="34" charset="-120"/>
              </a:rPr>
              <a:t>：応募・寄付への誘導</a:t>
            </a:r>
            <a:endParaRPr lang="en-US" sz="78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786438"/>
          </a:xfrm>
          <a:prstGeom prst="rect">
            <a:avLst/>
          </a:prstGeom>
        </p:spPr>
      </p:pic>
      <p:sp>
        <p:nvSpPr>
          <p:cNvPr id="3" name="Text 0"/>
          <p:cNvSpPr/>
          <p:nvPr/>
        </p:nvSpPr>
        <p:spPr>
          <a:xfrm>
            <a:off x="285750" y="285750"/>
            <a:ext cx="8572500" cy="478631"/>
          </a:xfrm>
          <a:prstGeom prst="rect">
            <a:avLst/>
          </a:prstGeom>
          <a:noFill/>
          <a:ln/>
        </p:spPr>
        <p:txBody>
          <a:bodyPr wrap="none" lIns="0" tIns="0" rIns="0" bIns="85090" rtlCol="0" anchor="ctr">
            <a:spAutoFit/>
          </a:bodyPr>
          <a:lstStyle/>
          <a:p>
            <a:pPr indent="0" marL="0">
              <a:buNone/>
            </a:pPr>
            <a:r>
              <a:rPr lang="en-US" sz="2025" b="1" dirty="0">
                <a:solidFill>
                  <a:srgbClr val="4682B4"/>
                </a:solidFill>
                <a:latin typeface="Noto Sans" pitchFamily="34" charset="0"/>
                <a:ea typeface="Noto Sans" pitchFamily="34" charset="-122"/>
                <a:cs typeface="Noto Sans" pitchFamily="34" charset="-120"/>
              </a:rPr>
              <a:t>デザインコンセプト</a:t>
            </a:r>
            <a:endParaRPr lang="en-US" sz="2025" dirty="0"/>
          </a:p>
        </p:txBody>
      </p:sp>
      <p:sp>
        <p:nvSpPr>
          <p:cNvPr id="4" name="Text 1"/>
          <p:cNvSpPr/>
          <p:nvPr/>
        </p:nvSpPr>
        <p:spPr>
          <a:xfrm>
            <a:off x="285750" y="885825"/>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ブランドアイデンティティ</a:t>
            </a:r>
            <a:endParaRPr lang="en-US" sz="1350" dirty="0"/>
          </a:p>
        </p:txBody>
      </p:sp>
      <p:sp>
        <p:nvSpPr>
          <p:cNvPr id="5" name="Shape 2"/>
          <p:cNvSpPr/>
          <p:nvPr/>
        </p:nvSpPr>
        <p:spPr>
          <a:xfrm>
            <a:off x="285750" y="1214438"/>
            <a:ext cx="4114800" cy="1728788"/>
          </a:xfrm>
          <a:prstGeom prst="rect">
            <a:avLst/>
          </a:prstGeom>
          <a:solidFill>
            <a:srgbClr val="FFFFFF"/>
          </a:solidFill>
          <a:ln/>
        </p:spPr>
      </p:sp>
      <p:sp>
        <p:nvSpPr>
          <p:cNvPr id="6" name="Text 3"/>
          <p:cNvSpPr/>
          <p:nvPr/>
        </p:nvSpPr>
        <p:spPr>
          <a:xfrm>
            <a:off x="392906" y="1321594"/>
            <a:ext cx="3900488"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キーワード</a:t>
            </a:r>
            <a:endParaRPr lang="en-US" sz="837" dirty="0"/>
          </a:p>
        </p:txBody>
      </p:sp>
      <p:sp>
        <p:nvSpPr>
          <p:cNvPr id="7" name="Shape 4"/>
          <p:cNvSpPr/>
          <p:nvPr/>
        </p:nvSpPr>
        <p:spPr>
          <a:xfrm>
            <a:off x="392906" y="1521619"/>
            <a:ext cx="414338" cy="200025"/>
          </a:xfrm>
          <a:prstGeom prst="roundRect">
            <a:avLst/>
          </a:prstGeom>
          <a:solidFill>
            <a:srgbClr val="DBEAFE"/>
          </a:solidFill>
          <a:ln/>
        </p:spPr>
      </p:sp>
      <p:sp>
        <p:nvSpPr>
          <p:cNvPr id="8" name="Text 5"/>
          <p:cNvSpPr/>
          <p:nvPr/>
        </p:nvSpPr>
        <p:spPr>
          <a:xfrm>
            <a:off x="392906" y="1521619"/>
            <a:ext cx="414338" cy="200025"/>
          </a:xfrm>
          <a:prstGeom prst="rect">
            <a:avLst/>
          </a:prstGeom>
          <a:noFill/>
          <a:ln/>
        </p:spPr>
        <p:txBody>
          <a:bodyPr wrap="none" lIns="68072" tIns="34036" rIns="68072" bIns="34036" rtlCol="0" anchor="ctr">
            <a:spAutoFit/>
          </a:bodyPr>
          <a:lstStyle/>
          <a:p>
            <a:pPr indent="0" marL="0">
              <a:buNone/>
            </a:pPr>
            <a:r>
              <a:rPr lang="en-US" sz="732" dirty="0">
                <a:solidFill>
                  <a:srgbClr val="1E40AF"/>
                </a:solidFill>
                <a:latin typeface="Noto Sans" pitchFamily="34" charset="0"/>
                <a:ea typeface="Noto Sans" pitchFamily="34" charset="-122"/>
                <a:cs typeface="Noto Sans" pitchFamily="34" charset="-120"/>
              </a:rPr>
              <a:t>温かさ</a:t>
            </a:r>
            <a:endParaRPr lang="en-US" sz="732" dirty="0"/>
          </a:p>
        </p:txBody>
      </p:sp>
      <p:sp>
        <p:nvSpPr>
          <p:cNvPr id="9" name="Shape 6"/>
          <p:cNvSpPr/>
          <p:nvPr/>
        </p:nvSpPr>
        <p:spPr>
          <a:xfrm>
            <a:off x="864394" y="1521619"/>
            <a:ext cx="314325" cy="200025"/>
          </a:xfrm>
          <a:prstGeom prst="roundRect">
            <a:avLst/>
          </a:prstGeom>
          <a:solidFill>
            <a:srgbClr val="DBEAFE"/>
          </a:solidFill>
          <a:ln/>
        </p:spPr>
      </p:sp>
      <p:sp>
        <p:nvSpPr>
          <p:cNvPr id="10" name="Text 7"/>
          <p:cNvSpPr/>
          <p:nvPr/>
        </p:nvSpPr>
        <p:spPr>
          <a:xfrm>
            <a:off x="864394" y="1521619"/>
            <a:ext cx="314325" cy="200025"/>
          </a:xfrm>
          <a:prstGeom prst="rect">
            <a:avLst/>
          </a:prstGeom>
          <a:noFill/>
          <a:ln/>
        </p:spPr>
        <p:txBody>
          <a:bodyPr wrap="none" lIns="68072" tIns="34036" rIns="68072" bIns="34036" rtlCol="0" anchor="ctr">
            <a:spAutoFit/>
          </a:bodyPr>
          <a:lstStyle/>
          <a:p>
            <a:pPr indent="0" marL="0">
              <a:buNone/>
            </a:pPr>
            <a:r>
              <a:rPr lang="en-US" sz="732" dirty="0">
                <a:solidFill>
                  <a:srgbClr val="1E40AF"/>
                </a:solidFill>
                <a:latin typeface="Noto Sans" pitchFamily="34" charset="0"/>
                <a:ea typeface="Noto Sans" pitchFamily="34" charset="-122"/>
                <a:cs typeface="Noto Sans" pitchFamily="34" charset="-120"/>
              </a:rPr>
              <a:t>信頼</a:t>
            </a:r>
            <a:endParaRPr lang="en-US" sz="732" dirty="0"/>
          </a:p>
        </p:txBody>
      </p:sp>
      <p:sp>
        <p:nvSpPr>
          <p:cNvPr id="11" name="Shape 8"/>
          <p:cNvSpPr/>
          <p:nvPr/>
        </p:nvSpPr>
        <p:spPr>
          <a:xfrm>
            <a:off x="1235869" y="1521619"/>
            <a:ext cx="314325" cy="200025"/>
          </a:xfrm>
          <a:prstGeom prst="roundRect">
            <a:avLst/>
          </a:prstGeom>
          <a:solidFill>
            <a:srgbClr val="DBEAFE"/>
          </a:solidFill>
          <a:ln/>
        </p:spPr>
      </p:sp>
      <p:sp>
        <p:nvSpPr>
          <p:cNvPr id="12" name="Text 9"/>
          <p:cNvSpPr/>
          <p:nvPr/>
        </p:nvSpPr>
        <p:spPr>
          <a:xfrm>
            <a:off x="1235869" y="1521619"/>
            <a:ext cx="314325" cy="200025"/>
          </a:xfrm>
          <a:prstGeom prst="rect">
            <a:avLst/>
          </a:prstGeom>
          <a:noFill/>
          <a:ln/>
        </p:spPr>
        <p:txBody>
          <a:bodyPr wrap="none" lIns="68072" tIns="34036" rIns="68072" bIns="34036" rtlCol="0" anchor="ctr">
            <a:spAutoFit/>
          </a:bodyPr>
          <a:lstStyle/>
          <a:p>
            <a:pPr indent="0" marL="0">
              <a:buNone/>
            </a:pPr>
            <a:r>
              <a:rPr lang="en-US" sz="732" dirty="0">
                <a:solidFill>
                  <a:srgbClr val="1E40AF"/>
                </a:solidFill>
                <a:latin typeface="Noto Sans" pitchFamily="34" charset="0"/>
                <a:ea typeface="Noto Sans" pitchFamily="34" charset="-122"/>
                <a:cs typeface="Noto Sans" pitchFamily="34" charset="-120"/>
              </a:rPr>
              <a:t>希望</a:t>
            </a:r>
            <a:endParaRPr lang="en-US" sz="732" dirty="0"/>
          </a:p>
        </p:txBody>
      </p:sp>
      <p:sp>
        <p:nvSpPr>
          <p:cNvPr id="13" name="Shape 10"/>
          <p:cNvSpPr/>
          <p:nvPr/>
        </p:nvSpPr>
        <p:spPr>
          <a:xfrm>
            <a:off x="1607344" y="1521619"/>
            <a:ext cx="314325" cy="200025"/>
          </a:xfrm>
          <a:prstGeom prst="roundRect">
            <a:avLst/>
          </a:prstGeom>
          <a:solidFill>
            <a:srgbClr val="DBEAFE"/>
          </a:solidFill>
          <a:ln/>
        </p:spPr>
      </p:sp>
      <p:sp>
        <p:nvSpPr>
          <p:cNvPr id="14" name="Text 11"/>
          <p:cNvSpPr/>
          <p:nvPr/>
        </p:nvSpPr>
        <p:spPr>
          <a:xfrm>
            <a:off x="1607344" y="1521619"/>
            <a:ext cx="314325" cy="200025"/>
          </a:xfrm>
          <a:prstGeom prst="rect">
            <a:avLst/>
          </a:prstGeom>
          <a:noFill/>
          <a:ln/>
        </p:spPr>
        <p:txBody>
          <a:bodyPr wrap="none" lIns="68072" tIns="34036" rIns="68072" bIns="34036" rtlCol="0" anchor="ctr">
            <a:spAutoFit/>
          </a:bodyPr>
          <a:lstStyle/>
          <a:p>
            <a:pPr indent="0" marL="0">
              <a:buNone/>
            </a:pPr>
            <a:r>
              <a:rPr lang="en-US" sz="732" dirty="0">
                <a:solidFill>
                  <a:srgbClr val="1E40AF"/>
                </a:solidFill>
                <a:latin typeface="Noto Sans" pitchFamily="34" charset="0"/>
                <a:ea typeface="Noto Sans" pitchFamily="34" charset="-122"/>
                <a:cs typeface="Noto Sans" pitchFamily="34" charset="-120"/>
              </a:rPr>
              <a:t>成長</a:t>
            </a:r>
            <a:endParaRPr lang="en-US" sz="732" dirty="0"/>
          </a:p>
        </p:txBody>
      </p:sp>
      <p:sp>
        <p:nvSpPr>
          <p:cNvPr id="15" name="Shape 12"/>
          <p:cNvSpPr/>
          <p:nvPr/>
        </p:nvSpPr>
        <p:spPr>
          <a:xfrm>
            <a:off x="1978819" y="1521619"/>
            <a:ext cx="514350" cy="200025"/>
          </a:xfrm>
          <a:prstGeom prst="roundRect">
            <a:avLst/>
          </a:prstGeom>
          <a:solidFill>
            <a:srgbClr val="DBEAFE"/>
          </a:solidFill>
          <a:ln/>
        </p:spPr>
      </p:sp>
      <p:sp>
        <p:nvSpPr>
          <p:cNvPr id="16" name="Text 13"/>
          <p:cNvSpPr/>
          <p:nvPr/>
        </p:nvSpPr>
        <p:spPr>
          <a:xfrm>
            <a:off x="1978819" y="1521619"/>
            <a:ext cx="514350" cy="200025"/>
          </a:xfrm>
          <a:prstGeom prst="rect">
            <a:avLst/>
          </a:prstGeom>
          <a:noFill/>
          <a:ln/>
        </p:spPr>
        <p:txBody>
          <a:bodyPr wrap="none" lIns="68072" tIns="34036" rIns="68072" bIns="34036" rtlCol="0" anchor="ctr">
            <a:spAutoFit/>
          </a:bodyPr>
          <a:lstStyle/>
          <a:p>
            <a:pPr indent="0" marL="0">
              <a:buNone/>
            </a:pPr>
            <a:r>
              <a:rPr lang="en-US" sz="732" dirty="0">
                <a:solidFill>
                  <a:srgbClr val="1E40AF"/>
                </a:solidFill>
                <a:latin typeface="Noto Sans" pitchFamily="34" charset="0"/>
                <a:ea typeface="Noto Sans" pitchFamily="34" charset="-122"/>
                <a:cs typeface="Noto Sans" pitchFamily="34" charset="-120"/>
              </a:rPr>
              <a:t>つながり</a:t>
            </a:r>
            <a:endParaRPr lang="en-US" sz="732" dirty="0"/>
          </a:p>
        </p:txBody>
      </p:sp>
      <p:sp>
        <p:nvSpPr>
          <p:cNvPr id="17" name="Text 14"/>
          <p:cNvSpPr/>
          <p:nvPr/>
        </p:nvSpPr>
        <p:spPr>
          <a:xfrm>
            <a:off x="392906" y="1835944"/>
            <a:ext cx="3900488"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トーン＆マナー</a:t>
            </a:r>
            <a:endParaRPr lang="en-US" sz="837" dirty="0"/>
          </a:p>
        </p:txBody>
      </p:sp>
      <p:sp>
        <p:nvSpPr>
          <p:cNvPr id="18" name="Text 15"/>
          <p:cNvSpPr/>
          <p:nvPr/>
        </p:nvSpPr>
        <p:spPr>
          <a:xfrm>
            <a:off x="392906" y="2039541"/>
            <a:ext cx="700088"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親しみやすさと</a:t>
            </a:r>
            <a:endParaRPr lang="en-US" sz="732" dirty="0"/>
          </a:p>
        </p:txBody>
      </p:sp>
      <p:sp>
        <p:nvSpPr>
          <p:cNvPr id="19" name="Text 16"/>
          <p:cNvSpPr/>
          <p:nvPr/>
        </p:nvSpPr>
        <p:spPr>
          <a:xfrm>
            <a:off x="1092994" y="2039541"/>
            <a:ext cx="1100138" cy="135731"/>
          </a:xfrm>
          <a:prstGeom prst="rect">
            <a:avLst/>
          </a:prstGeom>
          <a:noFill/>
          <a:ln/>
        </p:spPr>
        <p:txBody>
          <a:bodyPr wrap="none" lIns="0" tIns="0" rIns="0" bIns="0" rtlCol="0" anchor="ctr">
            <a:spAutoFit/>
          </a:bodyPr>
          <a:lstStyle/>
          <a:p>
            <a:pPr indent="0" marL="0">
              <a:buNone/>
            </a:pPr>
            <a:r>
              <a:rPr lang="en-US" sz="732" b="1" dirty="0">
                <a:solidFill>
                  <a:srgbClr val="FF6347"/>
                </a:solidFill>
                <a:latin typeface="Noto Sans" pitchFamily="34" charset="0"/>
                <a:ea typeface="Noto Sans" pitchFamily="34" charset="-122"/>
                <a:cs typeface="Noto Sans" pitchFamily="34" charset="-120"/>
              </a:rPr>
              <a:t>プロフェッショナリズム</a:t>
            </a:r>
            <a:endParaRPr lang="en-US" sz="732" dirty="0"/>
          </a:p>
        </p:txBody>
      </p:sp>
      <p:sp>
        <p:nvSpPr>
          <p:cNvPr id="20" name="Text 17"/>
          <p:cNvSpPr/>
          <p:nvPr/>
        </p:nvSpPr>
        <p:spPr>
          <a:xfrm>
            <a:off x="2193131" y="2039541"/>
            <a:ext cx="1694213"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のバランス。明るく前向きな印象で、</a:t>
            </a:r>
            <a:endParaRPr lang="en-US" sz="732" dirty="0"/>
          </a:p>
        </p:txBody>
      </p:sp>
      <p:sp>
        <p:nvSpPr>
          <p:cNvPr id="21" name="Text 18"/>
          <p:cNvSpPr/>
          <p:nvPr/>
        </p:nvSpPr>
        <p:spPr>
          <a:xfrm>
            <a:off x="3887344" y="2039541"/>
            <a:ext cx="400050" cy="135731"/>
          </a:xfrm>
          <a:prstGeom prst="rect">
            <a:avLst/>
          </a:prstGeom>
          <a:noFill/>
          <a:ln/>
        </p:spPr>
        <p:txBody>
          <a:bodyPr wrap="none" lIns="0" tIns="0" rIns="0" bIns="0" rtlCol="0" anchor="ctr">
            <a:spAutoFit/>
          </a:bodyPr>
          <a:lstStyle/>
          <a:p>
            <a:pPr indent="0" marL="0">
              <a:buNone/>
            </a:pPr>
            <a:r>
              <a:rPr lang="en-US" sz="732" b="1" dirty="0">
                <a:solidFill>
                  <a:srgbClr val="FF6347"/>
                </a:solidFill>
                <a:latin typeface="Noto Sans" pitchFamily="34" charset="0"/>
                <a:ea typeface="Noto Sans" pitchFamily="34" charset="-122"/>
                <a:cs typeface="Noto Sans" pitchFamily="34" charset="-120"/>
              </a:rPr>
              <a:t>安心感と</a:t>
            </a:r>
            <a:endParaRPr lang="en-US" sz="732" dirty="0"/>
          </a:p>
        </p:txBody>
      </p:sp>
      <p:sp>
        <p:nvSpPr>
          <p:cNvPr id="22" name="Text 19"/>
          <p:cNvSpPr/>
          <p:nvPr/>
        </p:nvSpPr>
        <p:spPr>
          <a:xfrm>
            <a:off x="392906" y="2182416"/>
            <a:ext cx="300038" cy="135731"/>
          </a:xfrm>
          <a:prstGeom prst="rect">
            <a:avLst/>
          </a:prstGeom>
          <a:noFill/>
          <a:ln/>
        </p:spPr>
        <p:txBody>
          <a:bodyPr wrap="none" lIns="0" tIns="0" rIns="0" bIns="0" rtlCol="0" anchor="ctr">
            <a:spAutoFit/>
          </a:bodyPr>
          <a:lstStyle/>
          <a:p>
            <a:pPr indent="0" marL="0">
              <a:buNone/>
            </a:pPr>
            <a:r>
              <a:rPr lang="en-US" sz="732" b="1" dirty="0">
                <a:solidFill>
                  <a:srgbClr val="FF6347"/>
                </a:solidFill>
                <a:latin typeface="Noto Sans" pitchFamily="34" charset="0"/>
                <a:ea typeface="Noto Sans" pitchFamily="34" charset="-122"/>
                <a:cs typeface="Noto Sans" pitchFamily="34" charset="-120"/>
              </a:rPr>
              <a:t>信頼性</a:t>
            </a:r>
            <a:endParaRPr lang="en-US" sz="732" dirty="0"/>
          </a:p>
        </p:txBody>
      </p:sp>
      <p:sp>
        <p:nvSpPr>
          <p:cNvPr id="23" name="Text 20"/>
          <p:cNvSpPr/>
          <p:nvPr/>
        </p:nvSpPr>
        <p:spPr>
          <a:xfrm>
            <a:off x="692944" y="2182416"/>
            <a:ext cx="690097"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を醸成します。</a:t>
            </a:r>
            <a:endParaRPr lang="en-US" sz="732" dirty="0"/>
          </a:p>
        </p:txBody>
      </p:sp>
      <p:sp>
        <p:nvSpPr>
          <p:cNvPr id="24" name="Text 21"/>
          <p:cNvSpPr/>
          <p:nvPr/>
        </p:nvSpPr>
        <p:spPr>
          <a:xfrm>
            <a:off x="392906" y="2407444"/>
            <a:ext cx="3900488"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ターゲット感情</a:t>
            </a:r>
            <a:endParaRPr lang="en-US" sz="837" dirty="0"/>
          </a:p>
        </p:txBody>
      </p:sp>
      <p:sp>
        <p:nvSpPr>
          <p:cNvPr id="25" name="Shape 22"/>
          <p:cNvSpPr/>
          <p:nvPr/>
        </p:nvSpPr>
        <p:spPr>
          <a:xfrm>
            <a:off x="392906" y="2607469"/>
            <a:ext cx="414338" cy="200025"/>
          </a:xfrm>
          <a:prstGeom prst="roundRect">
            <a:avLst/>
          </a:prstGeom>
          <a:solidFill>
            <a:srgbClr val="FEE2E2"/>
          </a:solidFill>
          <a:ln/>
        </p:spPr>
      </p:sp>
      <p:sp>
        <p:nvSpPr>
          <p:cNvPr id="26" name="Text 23"/>
          <p:cNvSpPr/>
          <p:nvPr/>
        </p:nvSpPr>
        <p:spPr>
          <a:xfrm>
            <a:off x="392906" y="2607469"/>
            <a:ext cx="414338" cy="200025"/>
          </a:xfrm>
          <a:prstGeom prst="rect">
            <a:avLst/>
          </a:prstGeom>
          <a:noFill/>
          <a:ln/>
        </p:spPr>
        <p:txBody>
          <a:bodyPr wrap="none" lIns="68072" tIns="34036" rIns="68072" bIns="34036" rtlCol="0" anchor="ctr">
            <a:spAutoFit/>
          </a:bodyPr>
          <a:lstStyle/>
          <a:p>
            <a:pPr indent="0" marL="0">
              <a:buNone/>
            </a:pPr>
            <a:r>
              <a:rPr lang="en-US" sz="732" dirty="0">
                <a:solidFill>
                  <a:srgbClr val="991B1B"/>
                </a:solidFill>
                <a:latin typeface="Noto Sans" pitchFamily="34" charset="0"/>
                <a:ea typeface="Noto Sans" pitchFamily="34" charset="-122"/>
                <a:cs typeface="Noto Sans" pitchFamily="34" charset="-120"/>
              </a:rPr>
              <a:t>安心感</a:t>
            </a:r>
            <a:endParaRPr lang="en-US" sz="732" dirty="0"/>
          </a:p>
        </p:txBody>
      </p:sp>
      <p:sp>
        <p:nvSpPr>
          <p:cNvPr id="27" name="Shape 24"/>
          <p:cNvSpPr/>
          <p:nvPr/>
        </p:nvSpPr>
        <p:spPr>
          <a:xfrm>
            <a:off x="864394" y="2607469"/>
            <a:ext cx="314325" cy="200025"/>
          </a:xfrm>
          <a:prstGeom prst="roundRect">
            <a:avLst/>
          </a:prstGeom>
          <a:solidFill>
            <a:srgbClr val="FEE2E2"/>
          </a:solidFill>
          <a:ln/>
        </p:spPr>
      </p:sp>
      <p:sp>
        <p:nvSpPr>
          <p:cNvPr id="28" name="Text 25"/>
          <p:cNvSpPr/>
          <p:nvPr/>
        </p:nvSpPr>
        <p:spPr>
          <a:xfrm>
            <a:off x="864394" y="2607469"/>
            <a:ext cx="314325" cy="200025"/>
          </a:xfrm>
          <a:prstGeom prst="rect">
            <a:avLst/>
          </a:prstGeom>
          <a:noFill/>
          <a:ln/>
        </p:spPr>
        <p:txBody>
          <a:bodyPr wrap="none" lIns="68072" tIns="34036" rIns="68072" bIns="34036" rtlCol="0" anchor="ctr">
            <a:spAutoFit/>
          </a:bodyPr>
          <a:lstStyle/>
          <a:p>
            <a:pPr indent="0" marL="0">
              <a:buNone/>
            </a:pPr>
            <a:r>
              <a:rPr lang="en-US" sz="732" dirty="0">
                <a:solidFill>
                  <a:srgbClr val="991B1B"/>
                </a:solidFill>
                <a:latin typeface="Noto Sans" pitchFamily="34" charset="0"/>
                <a:ea typeface="Noto Sans" pitchFamily="34" charset="-122"/>
                <a:cs typeface="Noto Sans" pitchFamily="34" charset="-120"/>
              </a:rPr>
              <a:t>共感</a:t>
            </a:r>
            <a:endParaRPr lang="en-US" sz="732" dirty="0"/>
          </a:p>
        </p:txBody>
      </p:sp>
      <p:sp>
        <p:nvSpPr>
          <p:cNvPr id="29" name="Shape 26"/>
          <p:cNvSpPr/>
          <p:nvPr/>
        </p:nvSpPr>
        <p:spPr>
          <a:xfrm>
            <a:off x="1235869" y="2607469"/>
            <a:ext cx="314325" cy="200025"/>
          </a:xfrm>
          <a:prstGeom prst="roundRect">
            <a:avLst/>
          </a:prstGeom>
          <a:solidFill>
            <a:srgbClr val="FEE2E2"/>
          </a:solidFill>
          <a:ln/>
        </p:spPr>
      </p:sp>
      <p:sp>
        <p:nvSpPr>
          <p:cNvPr id="30" name="Text 27"/>
          <p:cNvSpPr/>
          <p:nvPr/>
        </p:nvSpPr>
        <p:spPr>
          <a:xfrm>
            <a:off x="1235869" y="2607469"/>
            <a:ext cx="314325" cy="200025"/>
          </a:xfrm>
          <a:prstGeom prst="rect">
            <a:avLst/>
          </a:prstGeom>
          <a:noFill/>
          <a:ln/>
        </p:spPr>
        <p:txBody>
          <a:bodyPr wrap="none" lIns="68072" tIns="34036" rIns="68072" bIns="34036" rtlCol="0" anchor="ctr">
            <a:spAutoFit/>
          </a:bodyPr>
          <a:lstStyle/>
          <a:p>
            <a:pPr indent="0" marL="0">
              <a:buNone/>
            </a:pPr>
            <a:r>
              <a:rPr lang="en-US" sz="732" dirty="0">
                <a:solidFill>
                  <a:srgbClr val="991B1B"/>
                </a:solidFill>
                <a:latin typeface="Noto Sans" pitchFamily="34" charset="0"/>
                <a:ea typeface="Noto Sans" pitchFamily="34" charset="-122"/>
                <a:cs typeface="Noto Sans" pitchFamily="34" charset="-120"/>
              </a:rPr>
              <a:t>信頼</a:t>
            </a:r>
            <a:endParaRPr lang="en-US" sz="732" dirty="0"/>
          </a:p>
        </p:txBody>
      </p:sp>
      <p:sp>
        <p:nvSpPr>
          <p:cNvPr id="31" name="Shape 28"/>
          <p:cNvSpPr/>
          <p:nvPr/>
        </p:nvSpPr>
        <p:spPr>
          <a:xfrm>
            <a:off x="1607344" y="2607469"/>
            <a:ext cx="314325" cy="200025"/>
          </a:xfrm>
          <a:prstGeom prst="roundRect">
            <a:avLst/>
          </a:prstGeom>
          <a:solidFill>
            <a:srgbClr val="FEE2E2"/>
          </a:solidFill>
          <a:ln/>
        </p:spPr>
      </p:sp>
      <p:sp>
        <p:nvSpPr>
          <p:cNvPr id="32" name="Text 29"/>
          <p:cNvSpPr/>
          <p:nvPr/>
        </p:nvSpPr>
        <p:spPr>
          <a:xfrm>
            <a:off x="1607344" y="2607469"/>
            <a:ext cx="314325" cy="200025"/>
          </a:xfrm>
          <a:prstGeom prst="rect">
            <a:avLst/>
          </a:prstGeom>
          <a:noFill/>
          <a:ln/>
        </p:spPr>
        <p:txBody>
          <a:bodyPr wrap="none" lIns="68072" tIns="34036" rIns="68072" bIns="34036" rtlCol="0" anchor="ctr">
            <a:spAutoFit/>
          </a:bodyPr>
          <a:lstStyle/>
          <a:p>
            <a:pPr indent="0" marL="0">
              <a:buNone/>
            </a:pPr>
            <a:r>
              <a:rPr lang="en-US" sz="732" dirty="0">
                <a:solidFill>
                  <a:srgbClr val="991B1B"/>
                </a:solidFill>
                <a:latin typeface="Noto Sans" pitchFamily="34" charset="0"/>
                <a:ea typeface="Noto Sans" pitchFamily="34" charset="-122"/>
                <a:cs typeface="Noto Sans" pitchFamily="34" charset="-120"/>
              </a:rPr>
              <a:t>希望</a:t>
            </a:r>
            <a:endParaRPr lang="en-US" sz="732" dirty="0"/>
          </a:p>
        </p:txBody>
      </p:sp>
      <p:sp>
        <p:nvSpPr>
          <p:cNvPr id="33" name="Text 30"/>
          <p:cNvSpPr/>
          <p:nvPr/>
        </p:nvSpPr>
        <p:spPr>
          <a:xfrm>
            <a:off x="285750" y="3050381"/>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カラーパレット案</a:t>
            </a:r>
            <a:endParaRPr lang="en-US" sz="1350" dirty="0"/>
          </a:p>
        </p:txBody>
      </p:sp>
      <p:sp>
        <p:nvSpPr>
          <p:cNvPr id="34" name="Shape 31"/>
          <p:cNvSpPr/>
          <p:nvPr/>
        </p:nvSpPr>
        <p:spPr>
          <a:xfrm>
            <a:off x="285750" y="3378994"/>
            <a:ext cx="4114800" cy="1843088"/>
          </a:xfrm>
          <a:prstGeom prst="rect">
            <a:avLst/>
          </a:prstGeom>
          <a:solidFill>
            <a:srgbClr val="FFFFFF"/>
          </a:solidFill>
          <a:ln/>
        </p:spPr>
      </p:sp>
      <p:sp>
        <p:nvSpPr>
          <p:cNvPr id="35" name="Shape 32"/>
          <p:cNvSpPr/>
          <p:nvPr/>
        </p:nvSpPr>
        <p:spPr>
          <a:xfrm>
            <a:off x="392906" y="3511153"/>
            <a:ext cx="285750" cy="285750"/>
          </a:xfrm>
          <a:prstGeom prst="rect">
            <a:avLst/>
          </a:prstGeom>
          <a:solidFill>
            <a:srgbClr val="4682B4"/>
          </a:solidFill>
          <a:ln w="99">
            <a:solidFill>
              <a:srgbClr val="DDDDDD"/>
            </a:solidFill>
            <a:prstDash val="solid"/>
          </a:ln>
        </p:spPr>
      </p:sp>
      <p:sp>
        <p:nvSpPr>
          <p:cNvPr id="36" name="Text 33"/>
          <p:cNvSpPr/>
          <p:nvPr/>
        </p:nvSpPr>
        <p:spPr>
          <a:xfrm>
            <a:off x="785813" y="3486150"/>
            <a:ext cx="3507581"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メインカラー: スチールブルー</a:t>
            </a:r>
            <a:endParaRPr lang="en-US" sz="837" dirty="0"/>
          </a:p>
        </p:txBody>
      </p:sp>
      <p:sp>
        <p:nvSpPr>
          <p:cNvPr id="37" name="Text 34"/>
          <p:cNvSpPr/>
          <p:nvPr/>
        </p:nvSpPr>
        <p:spPr>
          <a:xfrm>
            <a:off x="785813" y="3671888"/>
            <a:ext cx="3507581" cy="150019"/>
          </a:xfrm>
          <a:prstGeom prst="rect">
            <a:avLst/>
          </a:prstGeom>
          <a:noFill/>
          <a:ln/>
        </p:spPr>
        <p:txBody>
          <a:bodyPr wrap="none" lIns="0" tIns="0" rIns="0" bIns="0" rtlCol="0" anchor="ctr">
            <a:spAutoFit/>
          </a:bodyPr>
          <a:lstStyle/>
          <a:p>
            <a:pPr indent="0" marL="0">
              <a:buNone/>
            </a:pPr>
            <a:r>
              <a:rPr lang="en-US" sz="732" dirty="0">
                <a:solidFill>
                  <a:srgbClr val="666666"/>
                </a:solidFill>
                <a:latin typeface="Noto Sans" pitchFamily="34" charset="0"/>
                <a:ea typeface="Noto Sans" pitchFamily="34" charset="-122"/>
                <a:cs typeface="Noto Sans" pitchFamily="34" charset="-120"/>
              </a:rPr>
              <a:t>#4682B4 - 信頼、安定を表現</a:t>
            </a:r>
            <a:endParaRPr lang="en-US" sz="732" dirty="0"/>
          </a:p>
        </p:txBody>
      </p:sp>
      <p:sp>
        <p:nvSpPr>
          <p:cNvPr id="38" name="Shape 35"/>
          <p:cNvSpPr/>
          <p:nvPr/>
        </p:nvSpPr>
        <p:spPr>
          <a:xfrm>
            <a:off x="392906" y="3918347"/>
            <a:ext cx="285750" cy="285750"/>
          </a:xfrm>
          <a:prstGeom prst="rect">
            <a:avLst/>
          </a:prstGeom>
          <a:solidFill>
            <a:srgbClr val="87CEEB"/>
          </a:solidFill>
          <a:ln w="99">
            <a:solidFill>
              <a:srgbClr val="DDDDDD"/>
            </a:solidFill>
            <a:prstDash val="solid"/>
          </a:ln>
        </p:spPr>
      </p:sp>
      <p:sp>
        <p:nvSpPr>
          <p:cNvPr id="39" name="Text 36"/>
          <p:cNvSpPr/>
          <p:nvPr/>
        </p:nvSpPr>
        <p:spPr>
          <a:xfrm>
            <a:off x="785813" y="3893344"/>
            <a:ext cx="3507581"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サブカラー: スカイブルー</a:t>
            </a:r>
            <a:endParaRPr lang="en-US" sz="837" dirty="0"/>
          </a:p>
        </p:txBody>
      </p:sp>
      <p:sp>
        <p:nvSpPr>
          <p:cNvPr id="40" name="Text 37"/>
          <p:cNvSpPr/>
          <p:nvPr/>
        </p:nvSpPr>
        <p:spPr>
          <a:xfrm>
            <a:off x="785813" y="4079081"/>
            <a:ext cx="3507581" cy="150019"/>
          </a:xfrm>
          <a:prstGeom prst="rect">
            <a:avLst/>
          </a:prstGeom>
          <a:noFill/>
          <a:ln/>
        </p:spPr>
        <p:txBody>
          <a:bodyPr wrap="none" lIns="0" tIns="0" rIns="0" bIns="0" rtlCol="0" anchor="ctr">
            <a:spAutoFit/>
          </a:bodyPr>
          <a:lstStyle/>
          <a:p>
            <a:pPr indent="0" marL="0">
              <a:buNone/>
            </a:pPr>
            <a:r>
              <a:rPr lang="en-US" sz="732" dirty="0">
                <a:solidFill>
                  <a:srgbClr val="666666"/>
                </a:solidFill>
                <a:latin typeface="Noto Sans" pitchFamily="34" charset="0"/>
                <a:ea typeface="Noto Sans" pitchFamily="34" charset="-122"/>
                <a:cs typeface="Noto Sans" pitchFamily="34" charset="-120"/>
              </a:rPr>
              <a:t>#87CEEB - 希望、開放感を表現</a:t>
            </a:r>
            <a:endParaRPr lang="en-US" sz="732" dirty="0"/>
          </a:p>
        </p:txBody>
      </p:sp>
      <p:sp>
        <p:nvSpPr>
          <p:cNvPr id="41" name="Shape 38"/>
          <p:cNvSpPr/>
          <p:nvPr/>
        </p:nvSpPr>
        <p:spPr>
          <a:xfrm>
            <a:off x="392906" y="4325541"/>
            <a:ext cx="285750" cy="285750"/>
          </a:xfrm>
          <a:prstGeom prst="rect">
            <a:avLst/>
          </a:prstGeom>
          <a:solidFill>
            <a:srgbClr val="FF6347"/>
          </a:solidFill>
          <a:ln w="99">
            <a:solidFill>
              <a:srgbClr val="DDDDDD"/>
            </a:solidFill>
            <a:prstDash val="solid"/>
          </a:ln>
        </p:spPr>
      </p:sp>
      <p:sp>
        <p:nvSpPr>
          <p:cNvPr id="42" name="Text 39"/>
          <p:cNvSpPr/>
          <p:nvPr/>
        </p:nvSpPr>
        <p:spPr>
          <a:xfrm>
            <a:off x="785813" y="4300538"/>
            <a:ext cx="3507581"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アクセントカラー: トマト</a:t>
            </a:r>
            <a:endParaRPr lang="en-US" sz="837" dirty="0"/>
          </a:p>
        </p:txBody>
      </p:sp>
      <p:sp>
        <p:nvSpPr>
          <p:cNvPr id="43" name="Text 40"/>
          <p:cNvSpPr/>
          <p:nvPr/>
        </p:nvSpPr>
        <p:spPr>
          <a:xfrm>
            <a:off x="785813" y="4486275"/>
            <a:ext cx="3507581" cy="150019"/>
          </a:xfrm>
          <a:prstGeom prst="rect">
            <a:avLst/>
          </a:prstGeom>
          <a:noFill/>
          <a:ln/>
        </p:spPr>
        <p:txBody>
          <a:bodyPr wrap="none" lIns="0" tIns="0" rIns="0" bIns="0" rtlCol="0" anchor="ctr">
            <a:spAutoFit/>
          </a:bodyPr>
          <a:lstStyle/>
          <a:p>
            <a:pPr indent="0" marL="0">
              <a:buNone/>
            </a:pPr>
            <a:r>
              <a:rPr lang="en-US" sz="732" dirty="0">
                <a:solidFill>
                  <a:srgbClr val="666666"/>
                </a:solidFill>
                <a:latin typeface="Noto Sans" pitchFamily="34" charset="0"/>
                <a:ea typeface="Noto Sans" pitchFamily="34" charset="-122"/>
                <a:cs typeface="Noto Sans" pitchFamily="34" charset="-120"/>
              </a:rPr>
              <a:t>#FF6347 - 活力、温かさを表現</a:t>
            </a:r>
            <a:endParaRPr lang="en-US" sz="732" dirty="0"/>
          </a:p>
        </p:txBody>
      </p:sp>
      <p:sp>
        <p:nvSpPr>
          <p:cNvPr id="44" name="Shape 41"/>
          <p:cNvSpPr/>
          <p:nvPr/>
        </p:nvSpPr>
        <p:spPr>
          <a:xfrm>
            <a:off x="392906" y="4732734"/>
            <a:ext cx="285750" cy="285750"/>
          </a:xfrm>
          <a:prstGeom prst="rect">
            <a:avLst/>
          </a:prstGeom>
          <a:solidFill>
            <a:srgbClr val="F0F8FF"/>
          </a:solidFill>
          <a:ln w="99">
            <a:solidFill>
              <a:srgbClr val="DDDDDD"/>
            </a:solidFill>
            <a:prstDash val="solid"/>
          </a:ln>
        </p:spPr>
      </p:sp>
      <p:sp>
        <p:nvSpPr>
          <p:cNvPr id="45" name="Text 42"/>
          <p:cNvSpPr/>
          <p:nvPr/>
        </p:nvSpPr>
        <p:spPr>
          <a:xfrm>
            <a:off x="785813" y="4707731"/>
            <a:ext cx="3507581"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背景色: アリスブルー</a:t>
            </a:r>
            <a:endParaRPr lang="en-US" sz="837" dirty="0"/>
          </a:p>
        </p:txBody>
      </p:sp>
      <p:sp>
        <p:nvSpPr>
          <p:cNvPr id="46" name="Text 43"/>
          <p:cNvSpPr/>
          <p:nvPr/>
        </p:nvSpPr>
        <p:spPr>
          <a:xfrm>
            <a:off x="785813" y="4893469"/>
            <a:ext cx="3507581" cy="150019"/>
          </a:xfrm>
          <a:prstGeom prst="rect">
            <a:avLst/>
          </a:prstGeom>
          <a:noFill/>
          <a:ln/>
        </p:spPr>
        <p:txBody>
          <a:bodyPr wrap="none" lIns="0" tIns="0" rIns="0" bIns="0" rtlCol="0" anchor="ctr">
            <a:spAutoFit/>
          </a:bodyPr>
          <a:lstStyle/>
          <a:p>
            <a:pPr indent="0" marL="0">
              <a:buNone/>
            </a:pPr>
            <a:r>
              <a:rPr lang="en-US" sz="732" dirty="0">
                <a:solidFill>
                  <a:srgbClr val="666666"/>
                </a:solidFill>
                <a:latin typeface="Noto Sans" pitchFamily="34" charset="0"/>
                <a:ea typeface="Noto Sans" pitchFamily="34" charset="-122"/>
                <a:cs typeface="Noto Sans" pitchFamily="34" charset="-120"/>
              </a:rPr>
              <a:t>#F0F8FF - 清潔感を表現</a:t>
            </a:r>
            <a:endParaRPr lang="en-US" sz="732" dirty="0"/>
          </a:p>
        </p:txBody>
      </p:sp>
      <p:sp>
        <p:nvSpPr>
          <p:cNvPr id="47" name="Text 44"/>
          <p:cNvSpPr/>
          <p:nvPr/>
        </p:nvSpPr>
        <p:spPr>
          <a:xfrm>
            <a:off x="4743450" y="885825"/>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タイポグラフィ</a:t>
            </a:r>
            <a:endParaRPr lang="en-US" sz="1350" dirty="0"/>
          </a:p>
        </p:txBody>
      </p:sp>
      <p:sp>
        <p:nvSpPr>
          <p:cNvPr id="48" name="Shape 45"/>
          <p:cNvSpPr/>
          <p:nvPr/>
        </p:nvSpPr>
        <p:spPr>
          <a:xfrm>
            <a:off x="4743450" y="1214438"/>
            <a:ext cx="4114800" cy="1971675"/>
          </a:xfrm>
          <a:prstGeom prst="rect">
            <a:avLst/>
          </a:prstGeom>
          <a:solidFill>
            <a:srgbClr val="FFFFFF"/>
          </a:solidFill>
          <a:ln/>
        </p:spPr>
      </p:sp>
      <p:sp>
        <p:nvSpPr>
          <p:cNvPr id="49" name="Text 46"/>
          <p:cNvSpPr/>
          <p:nvPr/>
        </p:nvSpPr>
        <p:spPr>
          <a:xfrm>
            <a:off x="4850606" y="1321594"/>
            <a:ext cx="3900488"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見出し: Noto Sans JP</a:t>
            </a:r>
            <a:endParaRPr lang="en-US" sz="837" dirty="0"/>
          </a:p>
        </p:txBody>
      </p:sp>
      <p:sp>
        <p:nvSpPr>
          <p:cNvPr id="50" name="Shape 47"/>
          <p:cNvSpPr/>
          <p:nvPr/>
        </p:nvSpPr>
        <p:spPr>
          <a:xfrm>
            <a:off x="4850606" y="1514475"/>
            <a:ext cx="3900488" cy="371475"/>
          </a:xfrm>
          <a:prstGeom prst="rect">
            <a:avLst/>
          </a:prstGeom>
          <a:solidFill>
            <a:srgbClr val="F5F5F5"/>
          </a:solidFill>
          <a:ln/>
        </p:spPr>
      </p:sp>
      <p:sp>
        <p:nvSpPr>
          <p:cNvPr id="51" name="Text 48"/>
          <p:cNvSpPr/>
          <p:nvPr/>
        </p:nvSpPr>
        <p:spPr>
          <a:xfrm>
            <a:off x="4907756" y="1571625"/>
            <a:ext cx="3786188" cy="257175"/>
          </a:xfrm>
          <a:prstGeom prst="rect">
            <a:avLst/>
          </a:prstGeom>
          <a:noFill/>
          <a:ln/>
        </p:spPr>
        <p:txBody>
          <a:bodyPr wrap="none" lIns="0" tIns="0" rIns="0" bIns="0" rtlCol="0" anchor="ctr">
            <a:spAutoFit/>
          </a:bodyPr>
          <a:lstStyle/>
          <a:p>
            <a:pPr indent="0" marL="0">
              <a:buNone/>
            </a:pPr>
            <a:r>
              <a:rPr lang="en-US" sz="1350" b="1" dirty="0">
                <a:solidFill>
                  <a:srgbClr val="333333"/>
                </a:solidFill>
                <a:latin typeface="Noto Sans JP" pitchFamily="34" charset="0"/>
                <a:ea typeface="Noto Sans JP" pitchFamily="34" charset="-122"/>
                <a:cs typeface="Noto Sans JP" pitchFamily="34" charset="-120"/>
              </a:rPr>
              <a:t>青少年の自立を支える</a:t>
            </a:r>
            <a:endParaRPr lang="en-US" sz="1350" dirty="0"/>
          </a:p>
        </p:txBody>
      </p:sp>
      <p:sp>
        <p:nvSpPr>
          <p:cNvPr id="52" name="Text 49"/>
          <p:cNvSpPr/>
          <p:nvPr/>
        </p:nvSpPr>
        <p:spPr>
          <a:xfrm>
            <a:off x="4850606" y="1957388"/>
            <a:ext cx="3900488"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サブタイトル: Noto Sans JP</a:t>
            </a:r>
            <a:endParaRPr lang="en-US" sz="837" dirty="0"/>
          </a:p>
        </p:txBody>
      </p:sp>
      <p:sp>
        <p:nvSpPr>
          <p:cNvPr id="53" name="Shape 50"/>
          <p:cNvSpPr/>
          <p:nvPr/>
        </p:nvSpPr>
        <p:spPr>
          <a:xfrm>
            <a:off x="4850606" y="2150269"/>
            <a:ext cx="3900488" cy="307181"/>
          </a:xfrm>
          <a:prstGeom prst="rect">
            <a:avLst/>
          </a:prstGeom>
          <a:solidFill>
            <a:srgbClr val="F5F5F5"/>
          </a:solidFill>
          <a:ln/>
        </p:spPr>
      </p:sp>
      <p:sp>
        <p:nvSpPr>
          <p:cNvPr id="54" name="Text 51"/>
          <p:cNvSpPr/>
          <p:nvPr/>
        </p:nvSpPr>
        <p:spPr>
          <a:xfrm>
            <a:off x="4907756" y="2207419"/>
            <a:ext cx="3786188"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JP" pitchFamily="34" charset="0"/>
                <a:ea typeface="Noto Sans JP" pitchFamily="34" charset="-122"/>
                <a:cs typeface="Noto Sans JP" pitchFamily="34" charset="-120"/>
              </a:rPr>
              <a:t>自立援助ホームの活動と支援</a:t>
            </a:r>
            <a:endParaRPr lang="en-US" sz="942" dirty="0"/>
          </a:p>
        </p:txBody>
      </p:sp>
      <p:sp>
        <p:nvSpPr>
          <p:cNvPr id="55" name="Text 52"/>
          <p:cNvSpPr/>
          <p:nvPr/>
        </p:nvSpPr>
        <p:spPr>
          <a:xfrm>
            <a:off x="4850606" y="2528888"/>
            <a:ext cx="3900488"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本文: Hiragino Sans</a:t>
            </a:r>
            <a:endParaRPr lang="en-US" sz="837" dirty="0"/>
          </a:p>
        </p:txBody>
      </p:sp>
      <p:sp>
        <p:nvSpPr>
          <p:cNvPr id="56" name="Shape 53"/>
          <p:cNvSpPr/>
          <p:nvPr/>
        </p:nvSpPr>
        <p:spPr>
          <a:xfrm>
            <a:off x="4850606" y="2721769"/>
            <a:ext cx="3900488" cy="285750"/>
          </a:xfrm>
          <a:prstGeom prst="rect">
            <a:avLst/>
          </a:prstGeom>
          <a:solidFill>
            <a:srgbClr val="F5F5F5"/>
          </a:solidFill>
          <a:ln/>
        </p:spPr>
      </p:sp>
      <p:sp>
        <p:nvSpPr>
          <p:cNvPr id="57" name="Text 54"/>
          <p:cNvSpPr/>
          <p:nvPr/>
        </p:nvSpPr>
        <p:spPr>
          <a:xfrm>
            <a:off x="4907756" y="2778919"/>
            <a:ext cx="3786188" cy="171450"/>
          </a:xfrm>
          <a:prstGeom prst="rect">
            <a:avLst/>
          </a:prstGeom>
          <a:noFill/>
          <a:ln/>
        </p:spPr>
        <p:txBody>
          <a:bodyPr wrap="none" lIns="0" tIns="0" rIns="0" bIns="0" rtlCol="0" anchor="ctr">
            <a:spAutoFit/>
          </a:bodyPr>
          <a:lstStyle/>
          <a:p>
            <a:pPr indent="0" marL="0">
              <a:buNone/>
            </a:pPr>
            <a:r>
              <a:rPr lang="en-US" sz="837" dirty="0">
                <a:solidFill>
                  <a:srgbClr val="333333"/>
                </a:solidFill>
                <a:latin typeface="Hiragino Sans" pitchFamily="34" charset="0"/>
                <a:ea typeface="Hiragino Sans" pitchFamily="34" charset="-122"/>
                <a:cs typeface="Hiragino Sans" pitchFamily="34" charset="-120"/>
              </a:rPr>
              <a:t>私たちは家庭の支えが乏しい青少年の自立のために活動しています。</a:t>
            </a:r>
            <a:endParaRPr lang="en-US" sz="837" dirty="0"/>
          </a:p>
        </p:txBody>
      </p:sp>
      <p:sp>
        <p:nvSpPr>
          <p:cNvPr id="58" name="Text 55"/>
          <p:cNvSpPr/>
          <p:nvPr/>
        </p:nvSpPr>
        <p:spPr>
          <a:xfrm>
            <a:off x="4743450" y="3293269"/>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画像・写真の方針</a:t>
            </a:r>
            <a:endParaRPr lang="en-US" sz="1350" dirty="0"/>
          </a:p>
        </p:txBody>
      </p:sp>
      <p:sp>
        <p:nvSpPr>
          <p:cNvPr id="59" name="Shape 56"/>
          <p:cNvSpPr/>
          <p:nvPr/>
        </p:nvSpPr>
        <p:spPr>
          <a:xfrm>
            <a:off x="4743450" y="3621881"/>
            <a:ext cx="4114800" cy="814388"/>
          </a:xfrm>
          <a:prstGeom prst="rect">
            <a:avLst/>
          </a:prstGeom>
          <a:solidFill>
            <a:srgbClr val="FFFFFF"/>
          </a:solidFill>
          <a:ln/>
        </p:spPr>
      </p:sp>
      <p:sp>
        <p:nvSpPr>
          <p:cNvPr id="60" name="Text 57"/>
          <p:cNvSpPr/>
          <p:nvPr/>
        </p:nvSpPr>
        <p:spPr>
          <a:xfrm>
            <a:off x="4850606" y="3729038"/>
            <a:ext cx="1907381" cy="142875"/>
          </a:xfrm>
          <a:prstGeom prst="rect">
            <a:avLst/>
          </a:prstGeom>
          <a:noFill/>
          <a:ln/>
        </p:spPr>
        <p:txBody>
          <a:bodyPr wrap="none" lIns="0" tIns="0" rIns="0" bIns="0" rtlCol="0" anchor="ctr">
            <a:spAutoFit/>
          </a:bodyPr>
          <a:lstStyle/>
          <a:p>
            <a:pPr indent="0" marL="0">
              <a:buNone/>
            </a:pPr>
            <a:r>
              <a:rPr lang="en-US" sz="732" b="1" dirty="0">
                <a:solidFill>
                  <a:srgbClr val="333333"/>
                </a:solidFill>
                <a:latin typeface="Noto Sans" pitchFamily="34" charset="0"/>
                <a:ea typeface="Noto Sans" pitchFamily="34" charset="-122"/>
                <a:cs typeface="Noto Sans" pitchFamily="34" charset="-120"/>
              </a:rPr>
              <a:t>人物写真</a:t>
            </a:r>
            <a:endParaRPr lang="en-US" sz="732" dirty="0"/>
          </a:p>
        </p:txBody>
      </p:sp>
      <p:sp>
        <p:nvSpPr>
          <p:cNvPr id="61" name="Text 58"/>
          <p:cNvSpPr/>
          <p:nvPr/>
        </p:nvSpPr>
        <p:spPr>
          <a:xfrm>
            <a:off x="4850606" y="3871913"/>
            <a:ext cx="1907381" cy="114300"/>
          </a:xfrm>
          <a:prstGeom prst="rect">
            <a:avLst/>
          </a:prstGeom>
          <a:noFill/>
          <a:ln/>
        </p:spPr>
        <p:txBody>
          <a:bodyPr wrap="none" lIns="0" tIns="0" rIns="0" bIns="0" rtlCol="0" anchor="ctr">
            <a:spAutoFit/>
          </a:bodyPr>
          <a:lstStyle/>
          <a:p>
            <a:pPr indent="0" marL="0">
              <a:buNone/>
            </a:pPr>
            <a:r>
              <a:rPr lang="en-US" sz="628" dirty="0">
                <a:solidFill>
                  <a:srgbClr val="333333"/>
                </a:solidFill>
                <a:latin typeface="Noto Sans" pitchFamily="34" charset="0"/>
                <a:ea typeface="Noto Sans" pitchFamily="34" charset="-122"/>
                <a:cs typeface="Noto Sans" pitchFamily="34" charset="-120"/>
              </a:rPr>
              <a:t>職員の自然な笑顔、温かい表情</a:t>
            </a:r>
            <a:endParaRPr lang="en-US" sz="628" dirty="0"/>
          </a:p>
        </p:txBody>
      </p:sp>
      <p:sp>
        <p:nvSpPr>
          <p:cNvPr id="62" name="Text 59"/>
          <p:cNvSpPr/>
          <p:nvPr/>
        </p:nvSpPr>
        <p:spPr>
          <a:xfrm>
            <a:off x="6843713" y="3729038"/>
            <a:ext cx="1907381" cy="142875"/>
          </a:xfrm>
          <a:prstGeom prst="rect">
            <a:avLst/>
          </a:prstGeom>
          <a:noFill/>
          <a:ln/>
        </p:spPr>
        <p:txBody>
          <a:bodyPr wrap="none" lIns="0" tIns="0" rIns="0" bIns="0" rtlCol="0" anchor="ctr">
            <a:spAutoFit/>
          </a:bodyPr>
          <a:lstStyle/>
          <a:p>
            <a:pPr indent="0" marL="0">
              <a:buNone/>
            </a:pPr>
            <a:r>
              <a:rPr lang="en-US" sz="732" b="1" dirty="0">
                <a:solidFill>
                  <a:srgbClr val="333333"/>
                </a:solidFill>
                <a:latin typeface="Noto Sans" pitchFamily="34" charset="0"/>
                <a:ea typeface="Noto Sans" pitchFamily="34" charset="-122"/>
                <a:cs typeface="Noto Sans" pitchFamily="34" charset="-120"/>
              </a:rPr>
              <a:t>施設写真</a:t>
            </a:r>
            <a:endParaRPr lang="en-US" sz="732" dirty="0"/>
          </a:p>
        </p:txBody>
      </p:sp>
      <p:sp>
        <p:nvSpPr>
          <p:cNvPr id="63" name="Text 60"/>
          <p:cNvSpPr/>
          <p:nvPr/>
        </p:nvSpPr>
        <p:spPr>
          <a:xfrm>
            <a:off x="6843713" y="3871913"/>
            <a:ext cx="1907381" cy="114300"/>
          </a:xfrm>
          <a:prstGeom prst="rect">
            <a:avLst/>
          </a:prstGeom>
          <a:noFill/>
          <a:ln/>
        </p:spPr>
        <p:txBody>
          <a:bodyPr wrap="none" lIns="0" tIns="0" rIns="0" bIns="0" rtlCol="0" anchor="ctr">
            <a:spAutoFit/>
          </a:bodyPr>
          <a:lstStyle/>
          <a:p>
            <a:pPr indent="0" marL="0">
              <a:buNone/>
            </a:pPr>
            <a:r>
              <a:rPr lang="en-US" sz="628" dirty="0">
                <a:solidFill>
                  <a:srgbClr val="333333"/>
                </a:solidFill>
                <a:latin typeface="Noto Sans" pitchFamily="34" charset="0"/>
                <a:ea typeface="Noto Sans" pitchFamily="34" charset="-122"/>
                <a:cs typeface="Noto Sans" pitchFamily="34" charset="-120"/>
              </a:rPr>
              <a:t>清潔で明るい空間、生活感のある風景</a:t>
            </a:r>
            <a:endParaRPr lang="en-US" sz="628" dirty="0"/>
          </a:p>
        </p:txBody>
      </p:sp>
      <p:sp>
        <p:nvSpPr>
          <p:cNvPr id="64" name="Text 61"/>
          <p:cNvSpPr/>
          <p:nvPr/>
        </p:nvSpPr>
        <p:spPr>
          <a:xfrm>
            <a:off x="4850606" y="4071938"/>
            <a:ext cx="1907381" cy="142875"/>
          </a:xfrm>
          <a:prstGeom prst="rect">
            <a:avLst/>
          </a:prstGeom>
          <a:noFill/>
          <a:ln/>
        </p:spPr>
        <p:txBody>
          <a:bodyPr wrap="none" lIns="0" tIns="0" rIns="0" bIns="0" rtlCol="0" anchor="ctr">
            <a:spAutoFit/>
          </a:bodyPr>
          <a:lstStyle/>
          <a:p>
            <a:pPr indent="0" marL="0">
              <a:buNone/>
            </a:pPr>
            <a:r>
              <a:rPr lang="en-US" sz="732" b="1" dirty="0">
                <a:solidFill>
                  <a:srgbClr val="333333"/>
                </a:solidFill>
                <a:latin typeface="Noto Sans" pitchFamily="34" charset="0"/>
                <a:ea typeface="Noto Sans" pitchFamily="34" charset="-122"/>
                <a:cs typeface="Noto Sans" pitchFamily="34" charset="-120"/>
              </a:rPr>
              <a:t>活動写真</a:t>
            </a:r>
            <a:endParaRPr lang="en-US" sz="732" dirty="0"/>
          </a:p>
        </p:txBody>
      </p:sp>
      <p:sp>
        <p:nvSpPr>
          <p:cNvPr id="65" name="Text 62"/>
          <p:cNvSpPr/>
          <p:nvPr/>
        </p:nvSpPr>
        <p:spPr>
          <a:xfrm>
            <a:off x="4850606" y="4214813"/>
            <a:ext cx="1907381" cy="114300"/>
          </a:xfrm>
          <a:prstGeom prst="rect">
            <a:avLst/>
          </a:prstGeom>
          <a:noFill/>
          <a:ln/>
        </p:spPr>
        <p:txBody>
          <a:bodyPr wrap="none" lIns="0" tIns="0" rIns="0" bIns="0" rtlCol="0" anchor="ctr">
            <a:spAutoFit/>
          </a:bodyPr>
          <a:lstStyle/>
          <a:p>
            <a:pPr indent="0" marL="0">
              <a:buNone/>
            </a:pPr>
            <a:r>
              <a:rPr lang="en-US" sz="628" dirty="0">
                <a:solidFill>
                  <a:srgbClr val="333333"/>
                </a:solidFill>
                <a:latin typeface="Noto Sans" pitchFamily="34" charset="0"/>
                <a:ea typeface="Noto Sans" pitchFamily="34" charset="-122"/>
                <a:cs typeface="Noto Sans" pitchFamily="34" charset="-120"/>
              </a:rPr>
              <a:t>子どもたちの成長を感じられる場面</a:t>
            </a:r>
            <a:endParaRPr lang="en-US" sz="628" dirty="0"/>
          </a:p>
        </p:txBody>
      </p:sp>
      <p:sp>
        <p:nvSpPr>
          <p:cNvPr id="66" name="Text 63"/>
          <p:cNvSpPr/>
          <p:nvPr/>
        </p:nvSpPr>
        <p:spPr>
          <a:xfrm>
            <a:off x="6843713" y="4071938"/>
            <a:ext cx="1907381" cy="142875"/>
          </a:xfrm>
          <a:prstGeom prst="rect">
            <a:avLst/>
          </a:prstGeom>
          <a:noFill/>
          <a:ln/>
        </p:spPr>
        <p:txBody>
          <a:bodyPr wrap="none" lIns="0" tIns="0" rIns="0" bIns="0" rtlCol="0" anchor="ctr">
            <a:spAutoFit/>
          </a:bodyPr>
          <a:lstStyle/>
          <a:p>
            <a:pPr indent="0" marL="0">
              <a:buNone/>
            </a:pPr>
            <a:r>
              <a:rPr lang="en-US" sz="732" b="1" dirty="0">
                <a:solidFill>
                  <a:srgbClr val="333333"/>
                </a:solidFill>
                <a:latin typeface="Noto Sans" pitchFamily="34" charset="0"/>
                <a:ea typeface="Noto Sans" pitchFamily="34" charset="-122"/>
                <a:cs typeface="Noto Sans" pitchFamily="34" charset="-120"/>
              </a:rPr>
              <a:t>イラスト</a:t>
            </a:r>
            <a:endParaRPr lang="en-US" sz="732" dirty="0"/>
          </a:p>
        </p:txBody>
      </p:sp>
      <p:sp>
        <p:nvSpPr>
          <p:cNvPr id="67" name="Text 64"/>
          <p:cNvSpPr/>
          <p:nvPr/>
        </p:nvSpPr>
        <p:spPr>
          <a:xfrm>
            <a:off x="6843713" y="4214813"/>
            <a:ext cx="1907381" cy="114300"/>
          </a:xfrm>
          <a:prstGeom prst="rect">
            <a:avLst/>
          </a:prstGeom>
          <a:noFill/>
          <a:ln/>
        </p:spPr>
        <p:txBody>
          <a:bodyPr wrap="none" lIns="0" tIns="0" rIns="0" bIns="0" rtlCol="0" anchor="ctr">
            <a:spAutoFit/>
          </a:bodyPr>
          <a:lstStyle/>
          <a:p>
            <a:pPr indent="0" marL="0">
              <a:buNone/>
            </a:pPr>
            <a:r>
              <a:rPr lang="en-US" sz="628" dirty="0">
                <a:solidFill>
                  <a:srgbClr val="333333"/>
                </a:solidFill>
                <a:latin typeface="Noto Sans" pitchFamily="34" charset="0"/>
                <a:ea typeface="Noto Sans" pitchFamily="34" charset="-122"/>
                <a:cs typeface="Noto Sans" pitchFamily="34" charset="-120"/>
              </a:rPr>
              <a:t>温かみのあるイラストを使用</a:t>
            </a:r>
            <a:endParaRPr lang="en-US" sz="628" dirty="0"/>
          </a:p>
        </p:txBody>
      </p:sp>
      <p:sp>
        <p:nvSpPr>
          <p:cNvPr id="68" name="Shape 65"/>
          <p:cNvSpPr/>
          <p:nvPr/>
        </p:nvSpPr>
        <p:spPr>
          <a:xfrm>
            <a:off x="4743450" y="4543425"/>
            <a:ext cx="4114800" cy="828675"/>
          </a:xfrm>
          <a:prstGeom prst="rect">
            <a:avLst/>
          </a:prstGeom>
          <a:solidFill>
            <a:srgbClr val="FFFFFF"/>
          </a:solidFill>
          <a:ln/>
        </p:spPr>
      </p:sp>
      <p:sp>
        <p:nvSpPr>
          <p:cNvPr id="69" name="Text 66"/>
          <p:cNvSpPr/>
          <p:nvPr/>
        </p:nvSpPr>
        <p:spPr>
          <a:xfrm>
            <a:off x="4850606" y="4650581"/>
            <a:ext cx="3900488" cy="214313"/>
          </a:xfrm>
          <a:prstGeom prst="rect">
            <a:avLst/>
          </a:prstGeom>
          <a:noFill/>
          <a:ln/>
        </p:spPr>
        <p:txBody>
          <a:bodyPr wrap="none" lIns="0" tIns="0" rIns="0" bIns="0" rtlCol="0" anchor="ctr">
            <a:spAutoFit/>
          </a:bodyPr>
          <a:lstStyle/>
          <a:p>
            <a:pPr indent="0" marL="0">
              <a:buNone/>
            </a:pPr>
            <a:r>
              <a:rPr lang="en-US" sz="1046" b="1" dirty="0">
                <a:solidFill>
                  <a:srgbClr val="4682B4"/>
                </a:solidFill>
                <a:latin typeface="Noto Sans" pitchFamily="34" charset="0"/>
                <a:ea typeface="Noto Sans" pitchFamily="34" charset="-122"/>
                <a:cs typeface="Noto Sans" pitchFamily="34" charset="-120"/>
              </a:rPr>
              <a:t>レイアウトの基本方針</a:t>
            </a:r>
            <a:endParaRPr lang="en-US" sz="1046" dirty="0"/>
          </a:p>
        </p:txBody>
      </p:sp>
      <p:pic>
        <p:nvPicPr>
          <p:cNvPr id="70" name="Image 1" descr="preencoded.png">    </p:cNvPr>
          <p:cNvPicPr>
            <a:picLocks noChangeAspect="1"/>
          </p:cNvPicPr>
          <p:nvPr/>
        </p:nvPicPr>
        <p:blipFill>
          <a:blip r:embed="rId2"/>
          <a:stretch>
            <a:fillRect/>
          </a:stretch>
        </p:blipFill>
        <p:spPr>
          <a:xfrm>
            <a:off x="4850606" y="4936331"/>
            <a:ext cx="114300" cy="114300"/>
          </a:xfrm>
          <a:prstGeom prst="rect">
            <a:avLst/>
          </a:prstGeom>
        </p:spPr>
      </p:pic>
      <p:sp>
        <p:nvSpPr>
          <p:cNvPr id="71" name="Text 67"/>
          <p:cNvSpPr/>
          <p:nvPr/>
        </p:nvSpPr>
        <p:spPr>
          <a:xfrm>
            <a:off x="5022056" y="4925616"/>
            <a:ext cx="397064" cy="135731"/>
          </a:xfrm>
          <a:prstGeom prst="rect">
            <a:avLst/>
          </a:prstGeom>
          <a:noFill/>
          <a:ln/>
        </p:spPr>
        <p:txBody>
          <a:bodyPr wrap="none" lIns="0" tIns="0" rIns="0" bIns="0" rtlCol="0" anchor="ctr">
            <a:spAutoFit/>
          </a:bodyPr>
          <a:lstStyle/>
          <a:p>
            <a:pPr indent="0" marL="0">
              <a:buNone/>
            </a:pPr>
            <a:r>
              <a:rPr lang="en-US" sz="732" b="1" dirty="0">
                <a:solidFill>
                  <a:srgbClr val="FF6347"/>
                </a:solidFill>
                <a:latin typeface="Noto Sans" pitchFamily="34" charset="0"/>
                <a:ea typeface="Noto Sans" pitchFamily="34" charset="-122"/>
                <a:cs typeface="Noto Sans" pitchFamily="34" charset="-120"/>
              </a:rPr>
              <a:t>シンプル</a:t>
            </a:r>
            <a:endParaRPr lang="en-US" sz="732" dirty="0"/>
          </a:p>
        </p:txBody>
      </p:sp>
      <p:sp>
        <p:nvSpPr>
          <p:cNvPr id="72" name="Text 68"/>
          <p:cNvSpPr/>
          <p:nvPr/>
        </p:nvSpPr>
        <p:spPr>
          <a:xfrm>
            <a:off x="5419120" y="4925616"/>
            <a:ext cx="500063"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な情報設計</a:t>
            </a:r>
            <a:endParaRPr lang="en-US" sz="732" dirty="0"/>
          </a:p>
        </p:txBody>
      </p:sp>
      <p:pic>
        <p:nvPicPr>
          <p:cNvPr id="73" name="Image 2" descr="preencoded.png">    </p:cNvPr>
          <p:cNvPicPr>
            <a:picLocks noChangeAspect="1"/>
          </p:cNvPicPr>
          <p:nvPr/>
        </p:nvPicPr>
        <p:blipFill>
          <a:blip r:embed="rId3"/>
          <a:stretch>
            <a:fillRect/>
          </a:stretch>
        </p:blipFill>
        <p:spPr>
          <a:xfrm>
            <a:off x="6829425" y="4936331"/>
            <a:ext cx="114300" cy="114300"/>
          </a:xfrm>
          <a:prstGeom prst="rect">
            <a:avLst/>
          </a:prstGeom>
        </p:spPr>
      </p:pic>
      <p:sp>
        <p:nvSpPr>
          <p:cNvPr id="74" name="Text 69"/>
          <p:cNvSpPr/>
          <p:nvPr/>
        </p:nvSpPr>
        <p:spPr>
          <a:xfrm>
            <a:off x="7000875" y="4925616"/>
            <a:ext cx="300038"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適切な</a:t>
            </a:r>
            <a:endParaRPr lang="en-US" sz="732" dirty="0"/>
          </a:p>
        </p:txBody>
      </p:sp>
      <p:sp>
        <p:nvSpPr>
          <p:cNvPr id="75" name="Text 70"/>
          <p:cNvSpPr/>
          <p:nvPr/>
        </p:nvSpPr>
        <p:spPr>
          <a:xfrm>
            <a:off x="7300913" y="4925616"/>
            <a:ext cx="200025" cy="135731"/>
          </a:xfrm>
          <a:prstGeom prst="rect">
            <a:avLst/>
          </a:prstGeom>
          <a:noFill/>
          <a:ln/>
        </p:spPr>
        <p:txBody>
          <a:bodyPr wrap="none" lIns="0" tIns="0" rIns="0" bIns="0" rtlCol="0" anchor="ctr">
            <a:spAutoFit/>
          </a:bodyPr>
          <a:lstStyle/>
          <a:p>
            <a:pPr indent="0" marL="0">
              <a:buNone/>
            </a:pPr>
            <a:r>
              <a:rPr lang="en-US" sz="732" b="1" dirty="0">
                <a:solidFill>
                  <a:srgbClr val="FF6347"/>
                </a:solidFill>
                <a:latin typeface="Noto Sans" pitchFamily="34" charset="0"/>
                <a:ea typeface="Noto Sans" pitchFamily="34" charset="-122"/>
                <a:cs typeface="Noto Sans" pitchFamily="34" charset="-120"/>
              </a:rPr>
              <a:t>余白</a:t>
            </a:r>
            <a:endParaRPr lang="en-US" sz="732" dirty="0"/>
          </a:p>
        </p:txBody>
      </p:sp>
      <p:sp>
        <p:nvSpPr>
          <p:cNvPr id="76" name="Text 71"/>
          <p:cNvSpPr/>
          <p:nvPr/>
        </p:nvSpPr>
        <p:spPr>
          <a:xfrm>
            <a:off x="7500938" y="4925616"/>
            <a:ext cx="300038"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の確保</a:t>
            </a:r>
            <a:endParaRPr lang="en-US" sz="732" dirty="0"/>
          </a:p>
        </p:txBody>
      </p:sp>
      <p:pic>
        <p:nvPicPr>
          <p:cNvPr id="77" name="Image 3" descr="preencoded.png">    </p:cNvPr>
          <p:cNvPicPr>
            <a:picLocks noChangeAspect="1"/>
          </p:cNvPicPr>
          <p:nvPr/>
        </p:nvPicPr>
        <p:blipFill>
          <a:blip r:embed="rId4"/>
          <a:stretch>
            <a:fillRect/>
          </a:stretch>
        </p:blipFill>
        <p:spPr>
          <a:xfrm>
            <a:off x="4850606" y="5136356"/>
            <a:ext cx="114300" cy="114300"/>
          </a:xfrm>
          <a:prstGeom prst="rect">
            <a:avLst/>
          </a:prstGeom>
        </p:spPr>
      </p:pic>
      <p:sp>
        <p:nvSpPr>
          <p:cNvPr id="78" name="Text 72"/>
          <p:cNvSpPr/>
          <p:nvPr/>
        </p:nvSpPr>
        <p:spPr>
          <a:xfrm>
            <a:off x="5022056" y="5125641"/>
            <a:ext cx="498081"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全ページの</a:t>
            </a:r>
            <a:endParaRPr lang="en-US" sz="732" dirty="0"/>
          </a:p>
        </p:txBody>
      </p:sp>
      <p:sp>
        <p:nvSpPr>
          <p:cNvPr id="79" name="Text 73"/>
          <p:cNvSpPr/>
          <p:nvPr/>
        </p:nvSpPr>
        <p:spPr>
          <a:xfrm>
            <a:off x="5520137" y="5125641"/>
            <a:ext cx="300038" cy="135731"/>
          </a:xfrm>
          <a:prstGeom prst="rect">
            <a:avLst/>
          </a:prstGeom>
          <a:noFill/>
          <a:ln/>
        </p:spPr>
        <p:txBody>
          <a:bodyPr wrap="none" lIns="0" tIns="0" rIns="0" bIns="0" rtlCol="0" anchor="ctr">
            <a:spAutoFit/>
          </a:bodyPr>
          <a:lstStyle/>
          <a:p>
            <a:pPr indent="0" marL="0">
              <a:buNone/>
            </a:pPr>
            <a:r>
              <a:rPr lang="en-US" sz="732" b="1" dirty="0">
                <a:solidFill>
                  <a:srgbClr val="FF6347"/>
                </a:solidFill>
                <a:latin typeface="Noto Sans" pitchFamily="34" charset="0"/>
                <a:ea typeface="Noto Sans" pitchFamily="34" charset="-122"/>
                <a:cs typeface="Noto Sans" pitchFamily="34" charset="-120"/>
              </a:rPr>
              <a:t>統一感</a:t>
            </a:r>
            <a:endParaRPr lang="en-US" sz="732" dirty="0"/>
          </a:p>
        </p:txBody>
      </p:sp>
      <p:pic>
        <p:nvPicPr>
          <p:cNvPr id="80" name="Image 4" descr="preencoded.png">    </p:cNvPr>
          <p:cNvPicPr>
            <a:picLocks noChangeAspect="1"/>
          </p:cNvPicPr>
          <p:nvPr/>
        </p:nvPicPr>
        <p:blipFill>
          <a:blip r:embed="rId5"/>
          <a:stretch>
            <a:fillRect/>
          </a:stretch>
        </p:blipFill>
        <p:spPr>
          <a:xfrm>
            <a:off x="6829425" y="5136356"/>
            <a:ext cx="114300" cy="114300"/>
          </a:xfrm>
          <a:prstGeom prst="rect">
            <a:avLst/>
          </a:prstGeom>
        </p:spPr>
      </p:pic>
      <p:sp>
        <p:nvSpPr>
          <p:cNvPr id="81" name="Text 74"/>
          <p:cNvSpPr/>
          <p:nvPr/>
        </p:nvSpPr>
        <p:spPr>
          <a:xfrm>
            <a:off x="7000875" y="5125641"/>
            <a:ext cx="600075" cy="135731"/>
          </a:xfrm>
          <a:prstGeom prst="rect">
            <a:avLst/>
          </a:prstGeom>
          <a:noFill/>
          <a:ln/>
        </p:spPr>
        <p:txBody>
          <a:bodyPr wrap="none" lIns="0" tIns="0" rIns="0" bIns="0" rtlCol="0" anchor="ctr">
            <a:spAutoFit/>
          </a:bodyPr>
          <a:lstStyle/>
          <a:p>
            <a:pPr indent="0" marL="0">
              <a:buNone/>
            </a:pPr>
            <a:r>
              <a:rPr lang="en-US" sz="732" b="1" dirty="0">
                <a:solidFill>
                  <a:srgbClr val="FF6347"/>
                </a:solidFill>
                <a:latin typeface="Noto Sans" pitchFamily="34" charset="0"/>
                <a:ea typeface="Noto Sans" pitchFamily="34" charset="-122"/>
                <a:cs typeface="Noto Sans" pitchFamily="34" charset="-120"/>
              </a:rPr>
              <a:t>レスポンシブ</a:t>
            </a:r>
            <a:endParaRPr lang="en-US" sz="732" dirty="0"/>
          </a:p>
        </p:txBody>
      </p:sp>
      <p:sp>
        <p:nvSpPr>
          <p:cNvPr id="82" name="Text 75"/>
          <p:cNvSpPr/>
          <p:nvPr/>
        </p:nvSpPr>
        <p:spPr>
          <a:xfrm>
            <a:off x="7600950" y="5125641"/>
            <a:ext cx="200025"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対応</a:t>
            </a:r>
            <a:endParaRPr lang="en-US" sz="73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806515"/>
          </a:xfrm>
          <a:prstGeom prst="rect">
            <a:avLst/>
          </a:prstGeom>
        </p:spPr>
      </p:pic>
      <p:sp>
        <p:nvSpPr>
          <p:cNvPr id="3" name="Text 0"/>
          <p:cNvSpPr/>
          <p:nvPr/>
        </p:nvSpPr>
        <p:spPr>
          <a:xfrm>
            <a:off x="285750" y="285750"/>
            <a:ext cx="8572500" cy="478631"/>
          </a:xfrm>
          <a:prstGeom prst="rect">
            <a:avLst/>
          </a:prstGeom>
          <a:noFill/>
          <a:ln/>
        </p:spPr>
        <p:txBody>
          <a:bodyPr wrap="none" lIns="0" tIns="0" rIns="0" bIns="85090" rtlCol="0" anchor="ctr">
            <a:spAutoFit/>
          </a:bodyPr>
          <a:lstStyle/>
          <a:p>
            <a:pPr indent="0" marL="0">
              <a:buNone/>
            </a:pPr>
            <a:r>
              <a:rPr lang="en-US" sz="2025" b="1" dirty="0">
                <a:solidFill>
                  <a:srgbClr val="4682B4"/>
                </a:solidFill>
                <a:latin typeface="Noto Sans" pitchFamily="34" charset="0"/>
                <a:ea typeface="Noto Sans" pitchFamily="34" charset="-122"/>
                <a:cs typeface="Noto Sans" pitchFamily="34" charset="-120"/>
              </a:rPr>
              <a:t>技術仕様と実装計画</a:t>
            </a:r>
            <a:endParaRPr lang="en-US" sz="2025" dirty="0"/>
          </a:p>
        </p:txBody>
      </p:sp>
      <p:sp>
        <p:nvSpPr>
          <p:cNvPr id="4" name="Text 1"/>
          <p:cNvSpPr/>
          <p:nvPr/>
        </p:nvSpPr>
        <p:spPr>
          <a:xfrm>
            <a:off x="285750" y="957263"/>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推奨技術スタック</a:t>
            </a:r>
            <a:endParaRPr lang="en-US" sz="1350" dirty="0"/>
          </a:p>
        </p:txBody>
      </p:sp>
      <p:sp>
        <p:nvSpPr>
          <p:cNvPr id="5" name="Shape 2"/>
          <p:cNvSpPr/>
          <p:nvPr/>
        </p:nvSpPr>
        <p:spPr>
          <a:xfrm>
            <a:off x="285750" y="1321594"/>
            <a:ext cx="4114800" cy="2131628"/>
          </a:xfrm>
          <a:prstGeom prst="rect">
            <a:avLst/>
          </a:prstGeom>
          <a:solidFill>
            <a:srgbClr val="FFFFFF"/>
          </a:solidFill>
          <a:ln/>
        </p:spPr>
      </p:sp>
      <p:pic>
        <p:nvPicPr>
          <p:cNvPr id="6" name="Image 1" descr="preencoded.png">    </p:cNvPr>
          <p:cNvPicPr>
            <a:picLocks noChangeAspect="1"/>
          </p:cNvPicPr>
          <p:nvPr/>
        </p:nvPicPr>
        <p:blipFill>
          <a:blip r:embed="rId2"/>
          <a:stretch>
            <a:fillRect/>
          </a:stretch>
        </p:blipFill>
        <p:spPr>
          <a:xfrm>
            <a:off x="485775" y="1555886"/>
            <a:ext cx="171450" cy="171450"/>
          </a:xfrm>
          <a:prstGeom prst="rect">
            <a:avLst/>
          </a:prstGeom>
        </p:spPr>
      </p:pic>
      <p:sp>
        <p:nvSpPr>
          <p:cNvPr id="7" name="Text 3"/>
          <p:cNvSpPr/>
          <p:nvPr/>
        </p:nvSpPr>
        <p:spPr>
          <a:xfrm>
            <a:off x="821531" y="1464469"/>
            <a:ext cx="3436144"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WordPress</a:t>
            </a:r>
            <a:endParaRPr lang="en-US" sz="942" dirty="0"/>
          </a:p>
        </p:txBody>
      </p:sp>
      <p:sp>
        <p:nvSpPr>
          <p:cNvPr id="8" name="Text 4"/>
          <p:cNvSpPr/>
          <p:nvPr/>
        </p:nvSpPr>
        <p:spPr>
          <a:xfrm>
            <a:off x="821531" y="1680567"/>
            <a:ext cx="1699236"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管理のしやすさと拡張性の高さから、</a:t>
            </a:r>
            <a:endParaRPr lang="en-US" sz="732" dirty="0"/>
          </a:p>
        </p:txBody>
      </p:sp>
      <p:sp>
        <p:nvSpPr>
          <p:cNvPr id="9" name="Text 5"/>
          <p:cNvSpPr/>
          <p:nvPr/>
        </p:nvSpPr>
        <p:spPr>
          <a:xfrm>
            <a:off x="2520767" y="1680567"/>
            <a:ext cx="210127" cy="135731"/>
          </a:xfrm>
          <a:prstGeom prst="rect">
            <a:avLst/>
          </a:prstGeom>
          <a:noFill/>
          <a:ln/>
        </p:spPr>
        <p:txBody>
          <a:bodyPr wrap="none" lIns="0" tIns="0" rIns="0" bIns="0" rtlCol="0" anchor="ctr">
            <a:spAutoFit/>
          </a:bodyPr>
          <a:lstStyle/>
          <a:p>
            <a:pPr indent="0" marL="0">
              <a:buNone/>
            </a:pPr>
            <a:r>
              <a:rPr lang="en-US" sz="732" b="1" dirty="0">
                <a:solidFill>
                  <a:srgbClr val="FF6347"/>
                </a:solidFill>
                <a:latin typeface="Noto Sans" pitchFamily="34" charset="0"/>
                <a:ea typeface="Noto Sans" pitchFamily="34" charset="-122"/>
                <a:cs typeface="Noto Sans" pitchFamily="34" charset="-120"/>
              </a:rPr>
              <a:t>CMS</a:t>
            </a:r>
            <a:endParaRPr lang="en-US" sz="732" dirty="0"/>
          </a:p>
        </p:txBody>
      </p:sp>
      <p:sp>
        <p:nvSpPr>
          <p:cNvPr id="10" name="Text 6"/>
          <p:cNvSpPr/>
          <p:nvPr/>
        </p:nvSpPr>
        <p:spPr>
          <a:xfrm>
            <a:off x="2730894" y="1680567"/>
            <a:ext cx="497077"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として採用</a:t>
            </a:r>
            <a:endParaRPr lang="en-US" sz="732" dirty="0"/>
          </a:p>
        </p:txBody>
      </p:sp>
      <p:pic>
        <p:nvPicPr>
          <p:cNvPr id="11" name="Image 2" descr="preencoded.png">    </p:cNvPr>
          <p:cNvPicPr>
            <a:picLocks noChangeAspect="1"/>
          </p:cNvPicPr>
          <p:nvPr/>
        </p:nvPicPr>
        <p:blipFill>
          <a:blip r:embed="rId3"/>
          <a:stretch>
            <a:fillRect/>
          </a:stretch>
        </p:blipFill>
        <p:spPr>
          <a:xfrm>
            <a:off x="475059" y="2017356"/>
            <a:ext cx="192881" cy="171450"/>
          </a:xfrm>
          <a:prstGeom prst="rect">
            <a:avLst/>
          </a:prstGeom>
        </p:spPr>
      </p:pic>
      <p:sp>
        <p:nvSpPr>
          <p:cNvPr id="12" name="Text 7"/>
          <p:cNvSpPr/>
          <p:nvPr/>
        </p:nvSpPr>
        <p:spPr>
          <a:xfrm>
            <a:off x="821531" y="1925938"/>
            <a:ext cx="3436144"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Bootstrap</a:t>
            </a:r>
            <a:endParaRPr lang="en-US" sz="942" dirty="0"/>
          </a:p>
        </p:txBody>
      </p:sp>
      <p:sp>
        <p:nvSpPr>
          <p:cNvPr id="13" name="Text 8"/>
          <p:cNvSpPr/>
          <p:nvPr/>
        </p:nvSpPr>
        <p:spPr>
          <a:xfrm>
            <a:off x="821531" y="2142037"/>
            <a:ext cx="1000125" cy="135731"/>
          </a:xfrm>
          <a:prstGeom prst="rect">
            <a:avLst/>
          </a:prstGeom>
          <a:noFill/>
          <a:ln/>
        </p:spPr>
        <p:txBody>
          <a:bodyPr wrap="none" lIns="0" tIns="0" rIns="0" bIns="0" rtlCol="0" anchor="ctr">
            <a:spAutoFit/>
          </a:bodyPr>
          <a:lstStyle/>
          <a:p>
            <a:pPr indent="0" marL="0">
              <a:buNone/>
            </a:pPr>
            <a:r>
              <a:rPr lang="en-US" sz="732" b="1" dirty="0">
                <a:solidFill>
                  <a:srgbClr val="FF6347"/>
                </a:solidFill>
                <a:latin typeface="Noto Sans" pitchFamily="34" charset="0"/>
                <a:ea typeface="Noto Sans" pitchFamily="34" charset="-122"/>
                <a:cs typeface="Noto Sans" pitchFamily="34" charset="-120"/>
              </a:rPr>
              <a:t>レスポンシブデザイン</a:t>
            </a:r>
            <a:endParaRPr lang="en-US" sz="732" dirty="0"/>
          </a:p>
        </p:txBody>
      </p:sp>
      <p:sp>
        <p:nvSpPr>
          <p:cNvPr id="14" name="Text 9"/>
          <p:cNvSpPr/>
          <p:nvPr/>
        </p:nvSpPr>
        <p:spPr>
          <a:xfrm>
            <a:off x="1821656" y="2142037"/>
            <a:ext cx="997139"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の標準フレームワーク</a:t>
            </a:r>
            <a:endParaRPr lang="en-US" sz="732" dirty="0"/>
          </a:p>
        </p:txBody>
      </p:sp>
      <p:pic>
        <p:nvPicPr>
          <p:cNvPr id="15" name="Image 3" descr="preencoded.png">    </p:cNvPr>
          <p:cNvPicPr>
            <a:picLocks noChangeAspect="1"/>
          </p:cNvPicPr>
          <p:nvPr/>
        </p:nvPicPr>
        <p:blipFill>
          <a:blip r:embed="rId4"/>
          <a:stretch>
            <a:fillRect/>
          </a:stretch>
        </p:blipFill>
        <p:spPr>
          <a:xfrm>
            <a:off x="507206" y="2478825"/>
            <a:ext cx="128588" cy="171450"/>
          </a:xfrm>
          <a:prstGeom prst="rect">
            <a:avLst/>
          </a:prstGeom>
        </p:spPr>
      </p:pic>
      <p:sp>
        <p:nvSpPr>
          <p:cNvPr id="16" name="Text 10"/>
          <p:cNvSpPr/>
          <p:nvPr/>
        </p:nvSpPr>
        <p:spPr>
          <a:xfrm>
            <a:off x="821531" y="2387408"/>
            <a:ext cx="3436144"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Stripe / PayPal</a:t>
            </a:r>
            <a:endParaRPr lang="en-US" sz="942" dirty="0"/>
          </a:p>
        </p:txBody>
      </p:sp>
      <p:sp>
        <p:nvSpPr>
          <p:cNvPr id="17" name="Text 11"/>
          <p:cNvSpPr/>
          <p:nvPr/>
        </p:nvSpPr>
        <p:spPr>
          <a:xfrm>
            <a:off x="821531" y="2603506"/>
            <a:ext cx="800100"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安全で使いやすい</a:t>
            </a:r>
            <a:endParaRPr lang="en-US" sz="732" dirty="0"/>
          </a:p>
        </p:txBody>
      </p:sp>
      <p:sp>
        <p:nvSpPr>
          <p:cNvPr id="18" name="Text 12"/>
          <p:cNvSpPr/>
          <p:nvPr/>
        </p:nvSpPr>
        <p:spPr>
          <a:xfrm>
            <a:off x="1621631" y="2603506"/>
            <a:ext cx="900113" cy="135731"/>
          </a:xfrm>
          <a:prstGeom prst="rect">
            <a:avLst/>
          </a:prstGeom>
          <a:noFill/>
          <a:ln/>
        </p:spPr>
        <p:txBody>
          <a:bodyPr wrap="none" lIns="0" tIns="0" rIns="0" bIns="0" rtlCol="0" anchor="ctr">
            <a:spAutoFit/>
          </a:bodyPr>
          <a:lstStyle/>
          <a:p>
            <a:pPr indent="0" marL="0">
              <a:buNone/>
            </a:pPr>
            <a:r>
              <a:rPr lang="en-US" sz="732" b="1" dirty="0">
                <a:solidFill>
                  <a:srgbClr val="FF6347"/>
                </a:solidFill>
                <a:latin typeface="Noto Sans" pitchFamily="34" charset="0"/>
                <a:ea typeface="Noto Sans" pitchFamily="34" charset="-122"/>
                <a:cs typeface="Noto Sans" pitchFamily="34" charset="-120"/>
              </a:rPr>
              <a:t>オンライン寄付決済</a:t>
            </a:r>
            <a:endParaRPr lang="en-US" sz="732" dirty="0"/>
          </a:p>
        </p:txBody>
      </p:sp>
      <p:sp>
        <p:nvSpPr>
          <p:cNvPr id="19" name="Text 13"/>
          <p:cNvSpPr/>
          <p:nvPr/>
        </p:nvSpPr>
        <p:spPr>
          <a:xfrm>
            <a:off x="2521744" y="2603506"/>
            <a:ext cx="397064"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システム</a:t>
            </a:r>
            <a:endParaRPr lang="en-US" sz="732" dirty="0"/>
          </a:p>
        </p:txBody>
      </p:sp>
      <p:pic>
        <p:nvPicPr>
          <p:cNvPr id="20" name="Image 4" descr="preencoded.png">    </p:cNvPr>
          <p:cNvPicPr>
            <a:picLocks noChangeAspect="1"/>
          </p:cNvPicPr>
          <p:nvPr/>
        </p:nvPicPr>
        <p:blipFill>
          <a:blip r:embed="rId5"/>
          <a:stretch>
            <a:fillRect/>
          </a:stretch>
        </p:blipFill>
        <p:spPr>
          <a:xfrm>
            <a:off x="485775" y="2940295"/>
            <a:ext cx="171450" cy="171450"/>
          </a:xfrm>
          <a:prstGeom prst="rect">
            <a:avLst/>
          </a:prstGeom>
        </p:spPr>
      </p:pic>
      <p:sp>
        <p:nvSpPr>
          <p:cNvPr id="21" name="Text 14"/>
          <p:cNvSpPr/>
          <p:nvPr/>
        </p:nvSpPr>
        <p:spPr>
          <a:xfrm>
            <a:off x="821531" y="2848877"/>
            <a:ext cx="3436144"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セキュリティ対策</a:t>
            </a:r>
            <a:endParaRPr lang="en-US" sz="942" dirty="0"/>
          </a:p>
        </p:txBody>
      </p:sp>
      <p:sp>
        <p:nvSpPr>
          <p:cNvPr id="22" name="Text 15"/>
          <p:cNvSpPr/>
          <p:nvPr/>
        </p:nvSpPr>
        <p:spPr>
          <a:xfrm>
            <a:off x="821531" y="3064976"/>
            <a:ext cx="463674" cy="135731"/>
          </a:xfrm>
          <a:prstGeom prst="rect">
            <a:avLst/>
          </a:prstGeom>
          <a:noFill/>
          <a:ln/>
        </p:spPr>
        <p:txBody>
          <a:bodyPr wrap="none" lIns="0" tIns="0" rIns="0" bIns="0" rtlCol="0" anchor="ctr">
            <a:spAutoFit/>
          </a:bodyPr>
          <a:lstStyle/>
          <a:p>
            <a:pPr indent="0" marL="0">
              <a:buNone/>
            </a:pPr>
            <a:r>
              <a:rPr lang="en-US" sz="732" b="1" dirty="0">
                <a:solidFill>
                  <a:srgbClr val="FF6347"/>
                </a:solidFill>
                <a:latin typeface="Noto Sans" pitchFamily="34" charset="0"/>
                <a:ea typeface="Noto Sans" pitchFamily="34" charset="-122"/>
                <a:cs typeface="Noto Sans" pitchFamily="34" charset="-120"/>
              </a:rPr>
              <a:t>SSL証明書</a:t>
            </a:r>
            <a:endParaRPr lang="en-US" sz="732" dirty="0"/>
          </a:p>
        </p:txBody>
      </p:sp>
      <p:sp>
        <p:nvSpPr>
          <p:cNvPr id="23" name="Text 16"/>
          <p:cNvSpPr/>
          <p:nvPr/>
        </p:nvSpPr>
        <p:spPr>
          <a:xfrm>
            <a:off x="1285205" y="3064976"/>
            <a:ext cx="1697227" cy="13573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と定期バックアップによるデータ保護</a:t>
            </a:r>
            <a:endParaRPr lang="en-US" sz="732" dirty="0"/>
          </a:p>
        </p:txBody>
      </p:sp>
      <p:sp>
        <p:nvSpPr>
          <p:cNvPr id="24" name="Text 17"/>
          <p:cNvSpPr/>
          <p:nvPr/>
        </p:nvSpPr>
        <p:spPr>
          <a:xfrm>
            <a:off x="285750" y="3596097"/>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必要機能</a:t>
            </a:r>
            <a:endParaRPr lang="en-US" sz="1350" dirty="0"/>
          </a:p>
        </p:txBody>
      </p:sp>
      <p:sp>
        <p:nvSpPr>
          <p:cNvPr id="25" name="Shape 18"/>
          <p:cNvSpPr/>
          <p:nvPr/>
        </p:nvSpPr>
        <p:spPr>
          <a:xfrm>
            <a:off x="285750" y="3960428"/>
            <a:ext cx="4114800" cy="1657350"/>
          </a:xfrm>
          <a:prstGeom prst="rect">
            <a:avLst/>
          </a:prstGeom>
          <a:solidFill>
            <a:srgbClr val="FFFFFF"/>
          </a:solidFill>
          <a:ln/>
        </p:spPr>
      </p:sp>
      <p:sp>
        <p:nvSpPr>
          <p:cNvPr id="26" name="Text 19"/>
          <p:cNvSpPr/>
          <p:nvPr/>
        </p:nvSpPr>
        <p:spPr>
          <a:xfrm>
            <a:off x="571500" y="4110447"/>
            <a:ext cx="114300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レスポンシブデザイン</a:t>
            </a:r>
            <a:endParaRPr lang="en-US" sz="837" dirty="0"/>
          </a:p>
        </p:txBody>
      </p:sp>
      <p:sp>
        <p:nvSpPr>
          <p:cNvPr id="27" name="Text 20"/>
          <p:cNvSpPr/>
          <p:nvPr/>
        </p:nvSpPr>
        <p:spPr>
          <a:xfrm>
            <a:off x="1714500" y="4110447"/>
            <a:ext cx="2071939"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：スマートフォン、タブレット、PC対応</a:t>
            </a:r>
            <a:endParaRPr lang="en-US" sz="837" dirty="0"/>
          </a:p>
        </p:txBody>
      </p:sp>
      <p:sp>
        <p:nvSpPr>
          <p:cNvPr id="28" name="Text 21"/>
          <p:cNvSpPr/>
          <p:nvPr/>
        </p:nvSpPr>
        <p:spPr>
          <a:xfrm>
            <a:off x="571500" y="4339047"/>
            <a:ext cx="468753"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CMS機能</a:t>
            </a:r>
            <a:endParaRPr lang="en-US" sz="837" dirty="0"/>
          </a:p>
        </p:txBody>
      </p:sp>
      <p:sp>
        <p:nvSpPr>
          <p:cNvPr id="29" name="Text 22"/>
          <p:cNvSpPr/>
          <p:nvPr/>
        </p:nvSpPr>
        <p:spPr>
          <a:xfrm>
            <a:off x="1040253" y="4339047"/>
            <a:ext cx="1482496"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：職員による簡単な情報更新</a:t>
            </a:r>
            <a:endParaRPr lang="en-US" sz="837" dirty="0"/>
          </a:p>
        </p:txBody>
      </p:sp>
      <p:sp>
        <p:nvSpPr>
          <p:cNvPr id="30" name="Text 23"/>
          <p:cNvSpPr/>
          <p:nvPr/>
        </p:nvSpPr>
        <p:spPr>
          <a:xfrm>
            <a:off x="571500" y="4567647"/>
            <a:ext cx="1139596"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お問い合わせフォーム</a:t>
            </a:r>
            <a:endParaRPr lang="en-US" sz="837" dirty="0"/>
          </a:p>
        </p:txBody>
      </p:sp>
      <p:sp>
        <p:nvSpPr>
          <p:cNvPr id="31" name="Text 24"/>
          <p:cNvSpPr/>
          <p:nvPr/>
        </p:nvSpPr>
        <p:spPr>
          <a:xfrm>
            <a:off x="1711096" y="4567647"/>
            <a:ext cx="1253896"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：目的別の専用フォーム</a:t>
            </a:r>
            <a:endParaRPr lang="en-US" sz="837" dirty="0"/>
          </a:p>
        </p:txBody>
      </p:sp>
      <p:sp>
        <p:nvSpPr>
          <p:cNvPr id="32" name="Text 25"/>
          <p:cNvSpPr/>
          <p:nvPr/>
        </p:nvSpPr>
        <p:spPr>
          <a:xfrm>
            <a:off x="571500" y="4796247"/>
            <a:ext cx="68580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寄付決済機能</a:t>
            </a:r>
            <a:endParaRPr lang="en-US" sz="837" dirty="0"/>
          </a:p>
        </p:txBody>
      </p:sp>
      <p:sp>
        <p:nvSpPr>
          <p:cNvPr id="33" name="Text 26"/>
          <p:cNvSpPr/>
          <p:nvPr/>
        </p:nvSpPr>
        <p:spPr>
          <a:xfrm>
            <a:off x="1257300" y="4796247"/>
            <a:ext cx="1368196"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：オンライン寄付システム</a:t>
            </a:r>
            <a:endParaRPr lang="en-US" sz="837" dirty="0"/>
          </a:p>
        </p:txBody>
      </p:sp>
      <p:sp>
        <p:nvSpPr>
          <p:cNvPr id="34" name="Text 27"/>
          <p:cNvSpPr/>
          <p:nvPr/>
        </p:nvSpPr>
        <p:spPr>
          <a:xfrm>
            <a:off x="571500" y="5024847"/>
            <a:ext cx="443052"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SNS連携</a:t>
            </a:r>
            <a:endParaRPr lang="en-US" sz="837" dirty="0"/>
          </a:p>
        </p:txBody>
      </p:sp>
      <p:sp>
        <p:nvSpPr>
          <p:cNvPr id="35" name="Text 28"/>
          <p:cNvSpPr/>
          <p:nvPr/>
        </p:nvSpPr>
        <p:spPr>
          <a:xfrm>
            <a:off x="1014552" y="5024847"/>
            <a:ext cx="1257300"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：情報拡散と認知度向上</a:t>
            </a:r>
            <a:endParaRPr lang="en-US" sz="837" dirty="0"/>
          </a:p>
        </p:txBody>
      </p:sp>
      <p:sp>
        <p:nvSpPr>
          <p:cNvPr id="36" name="Text 29"/>
          <p:cNvSpPr/>
          <p:nvPr/>
        </p:nvSpPr>
        <p:spPr>
          <a:xfrm>
            <a:off x="571500" y="5253447"/>
            <a:ext cx="45720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検索機能</a:t>
            </a:r>
            <a:endParaRPr lang="en-US" sz="837" dirty="0"/>
          </a:p>
        </p:txBody>
      </p:sp>
      <p:sp>
        <p:nvSpPr>
          <p:cNvPr id="37" name="Text 30"/>
          <p:cNvSpPr/>
          <p:nvPr/>
        </p:nvSpPr>
        <p:spPr>
          <a:xfrm>
            <a:off x="1028700" y="5253447"/>
            <a:ext cx="1143000"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：サイト内情報の検索</a:t>
            </a:r>
            <a:endParaRPr lang="en-US" sz="837" dirty="0"/>
          </a:p>
        </p:txBody>
      </p:sp>
      <p:sp>
        <p:nvSpPr>
          <p:cNvPr id="38" name="Text 31"/>
          <p:cNvSpPr/>
          <p:nvPr/>
        </p:nvSpPr>
        <p:spPr>
          <a:xfrm>
            <a:off x="4743450" y="957263"/>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実装スケジュール</a:t>
            </a:r>
            <a:endParaRPr lang="en-US" sz="1350" dirty="0"/>
          </a:p>
        </p:txBody>
      </p:sp>
      <p:sp>
        <p:nvSpPr>
          <p:cNvPr id="39" name="Shape 32"/>
          <p:cNvSpPr/>
          <p:nvPr/>
        </p:nvSpPr>
        <p:spPr>
          <a:xfrm>
            <a:off x="4743450" y="1321594"/>
            <a:ext cx="4114800" cy="2857500"/>
          </a:xfrm>
          <a:prstGeom prst="rect">
            <a:avLst/>
          </a:prstGeom>
          <a:solidFill>
            <a:srgbClr val="FFFFFF"/>
          </a:solidFill>
          <a:ln/>
        </p:spPr>
      </p:sp>
      <p:pic>
        <p:nvPicPr>
          <p:cNvPr id="40" name="Image 5" descr="preencoded.png">    </p:cNvPr>
          <p:cNvPicPr>
            <a:picLocks noChangeAspect="1"/>
          </p:cNvPicPr>
          <p:nvPr/>
        </p:nvPicPr>
        <p:blipFill>
          <a:blip r:embed="rId6"/>
          <a:stretch>
            <a:fillRect/>
          </a:stretch>
        </p:blipFill>
        <p:spPr>
          <a:xfrm>
            <a:off x="4886325" y="1464469"/>
            <a:ext cx="3829050" cy="2500313"/>
          </a:xfrm>
          <a:prstGeom prst="rect">
            <a:avLst/>
          </a:prstGeom>
        </p:spPr>
      </p:pic>
      <p:sp>
        <p:nvSpPr>
          <p:cNvPr id="41" name="Text 33"/>
          <p:cNvSpPr/>
          <p:nvPr/>
        </p:nvSpPr>
        <p:spPr>
          <a:xfrm>
            <a:off x="4743450" y="4321969"/>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運用・保守計画</a:t>
            </a:r>
            <a:endParaRPr lang="en-US" sz="1350" dirty="0"/>
          </a:p>
        </p:txBody>
      </p:sp>
      <p:sp>
        <p:nvSpPr>
          <p:cNvPr id="42" name="Shape 34"/>
          <p:cNvSpPr/>
          <p:nvPr/>
        </p:nvSpPr>
        <p:spPr>
          <a:xfrm>
            <a:off x="4743450" y="4686300"/>
            <a:ext cx="4114800" cy="1670159"/>
          </a:xfrm>
          <a:prstGeom prst="rect">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4943475" y="4920593"/>
            <a:ext cx="171450" cy="171450"/>
          </a:xfrm>
          <a:prstGeom prst="rect">
            <a:avLst/>
          </a:prstGeom>
        </p:spPr>
      </p:pic>
      <p:sp>
        <p:nvSpPr>
          <p:cNvPr id="44" name="Text 35"/>
          <p:cNvSpPr/>
          <p:nvPr/>
        </p:nvSpPr>
        <p:spPr>
          <a:xfrm>
            <a:off x="5279231" y="4829175"/>
            <a:ext cx="3436144"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定期更新</a:t>
            </a:r>
            <a:endParaRPr lang="en-US" sz="942" dirty="0"/>
          </a:p>
        </p:txBody>
      </p:sp>
      <p:sp>
        <p:nvSpPr>
          <p:cNvPr id="45" name="Text 36"/>
          <p:cNvSpPr/>
          <p:nvPr/>
        </p:nvSpPr>
        <p:spPr>
          <a:xfrm>
            <a:off x="5279231" y="5043488"/>
            <a:ext cx="3436144" cy="14000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お知らせ・活動報告の月次更新、年次報告書の年1回更新</a:t>
            </a:r>
            <a:endParaRPr lang="en-US" sz="732" dirty="0"/>
          </a:p>
        </p:txBody>
      </p:sp>
      <p:pic>
        <p:nvPicPr>
          <p:cNvPr id="46" name="Image 7" descr="preencoded.png">    </p:cNvPr>
          <p:cNvPicPr>
            <a:picLocks noChangeAspect="1"/>
          </p:cNvPicPr>
          <p:nvPr/>
        </p:nvPicPr>
        <p:blipFill>
          <a:blip r:embed="rId8"/>
          <a:stretch>
            <a:fillRect/>
          </a:stretch>
        </p:blipFill>
        <p:spPr>
          <a:xfrm>
            <a:off x="4954191" y="5382062"/>
            <a:ext cx="150019" cy="171450"/>
          </a:xfrm>
          <a:prstGeom prst="rect">
            <a:avLst/>
          </a:prstGeom>
        </p:spPr>
      </p:pic>
      <p:sp>
        <p:nvSpPr>
          <p:cNvPr id="47" name="Text 37"/>
          <p:cNvSpPr/>
          <p:nvPr/>
        </p:nvSpPr>
        <p:spPr>
          <a:xfrm>
            <a:off x="5279231" y="5290645"/>
            <a:ext cx="3436144"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セキュリティ対策</a:t>
            </a:r>
            <a:endParaRPr lang="en-US" sz="942" dirty="0"/>
          </a:p>
        </p:txBody>
      </p:sp>
      <p:sp>
        <p:nvSpPr>
          <p:cNvPr id="48" name="Text 38"/>
          <p:cNvSpPr/>
          <p:nvPr/>
        </p:nvSpPr>
        <p:spPr>
          <a:xfrm>
            <a:off x="5279231" y="5504957"/>
            <a:ext cx="3436144" cy="14000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WordPress・プラグインの定期アップデート、月次セキュリティチェック</a:t>
            </a:r>
            <a:endParaRPr lang="en-US" sz="732" dirty="0"/>
          </a:p>
        </p:txBody>
      </p:sp>
      <p:pic>
        <p:nvPicPr>
          <p:cNvPr id="49" name="Image 8" descr="preencoded.png">    </p:cNvPr>
          <p:cNvPicPr>
            <a:picLocks noChangeAspect="1"/>
          </p:cNvPicPr>
          <p:nvPr/>
        </p:nvPicPr>
        <p:blipFill>
          <a:blip r:embed="rId9"/>
          <a:stretch>
            <a:fillRect/>
          </a:stretch>
        </p:blipFill>
        <p:spPr>
          <a:xfrm>
            <a:off x="4943475" y="5843532"/>
            <a:ext cx="171450" cy="171450"/>
          </a:xfrm>
          <a:prstGeom prst="rect">
            <a:avLst/>
          </a:prstGeom>
        </p:spPr>
      </p:pic>
      <p:sp>
        <p:nvSpPr>
          <p:cNvPr id="50" name="Text 39"/>
          <p:cNvSpPr/>
          <p:nvPr/>
        </p:nvSpPr>
        <p:spPr>
          <a:xfrm>
            <a:off x="5279231" y="5752114"/>
            <a:ext cx="3436144" cy="192881"/>
          </a:xfrm>
          <a:prstGeom prst="rect">
            <a:avLst/>
          </a:prstGeom>
          <a:noFill/>
          <a:ln/>
        </p:spPr>
        <p:txBody>
          <a:bodyPr wrap="none" lIns="0" tIns="0" rIns="0" bIns="0" rtlCol="0" anchor="ctr">
            <a:spAutoFit/>
          </a:bodyPr>
          <a:lstStyle/>
          <a:p>
            <a:pPr indent="0" marL="0">
              <a:buNone/>
            </a:pPr>
            <a:r>
              <a:rPr lang="en-US" sz="942" b="1" dirty="0">
                <a:solidFill>
                  <a:srgbClr val="333333"/>
                </a:solidFill>
                <a:latin typeface="Noto Sans" pitchFamily="34" charset="0"/>
                <a:ea typeface="Noto Sans" pitchFamily="34" charset="-122"/>
                <a:cs typeface="Noto Sans" pitchFamily="34" charset="-120"/>
              </a:rPr>
              <a:t>アクセス解析</a:t>
            </a:r>
            <a:endParaRPr lang="en-US" sz="942" dirty="0"/>
          </a:p>
        </p:txBody>
      </p:sp>
      <p:sp>
        <p:nvSpPr>
          <p:cNvPr id="51" name="Text 40"/>
          <p:cNvSpPr/>
          <p:nvPr/>
        </p:nvSpPr>
        <p:spPr>
          <a:xfrm>
            <a:off x="5279231" y="5966427"/>
            <a:ext cx="3436144" cy="140001"/>
          </a:xfrm>
          <a:prstGeom prst="rect">
            <a:avLst/>
          </a:prstGeom>
          <a:noFill/>
          <a:ln/>
        </p:spPr>
        <p:txBody>
          <a:bodyPr wrap="none" lIns="0" tIns="0" rIns="0" bIns="0" rtlCol="0" anchor="ctr">
            <a:spAutoFit/>
          </a:bodyPr>
          <a:lstStyle/>
          <a:p>
            <a:pPr indent="0" marL="0">
              <a:buNone/>
            </a:pPr>
            <a:r>
              <a:rPr lang="en-US" sz="732" dirty="0">
                <a:solidFill>
                  <a:srgbClr val="333333"/>
                </a:solidFill>
                <a:latin typeface="Noto Sans" pitchFamily="34" charset="0"/>
                <a:ea typeface="Noto Sans" pitchFamily="34" charset="-122"/>
                <a:cs typeface="Noto Sans" pitchFamily="34" charset="-120"/>
              </a:rPr>
              <a:t>月次アクセスレポート作成、四半期ごとのサイト改善検討</a:t>
            </a:r>
            <a:endParaRPr lang="en-US" sz="73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686550"/>
          </a:xfrm>
          <a:prstGeom prst="rect">
            <a:avLst/>
          </a:prstGeom>
        </p:spPr>
      </p:pic>
      <p:sp>
        <p:nvSpPr>
          <p:cNvPr id="3" name="Text 0"/>
          <p:cNvSpPr/>
          <p:nvPr/>
        </p:nvSpPr>
        <p:spPr>
          <a:xfrm>
            <a:off x="285750" y="285750"/>
            <a:ext cx="8572500" cy="478631"/>
          </a:xfrm>
          <a:prstGeom prst="rect">
            <a:avLst/>
          </a:prstGeom>
          <a:noFill/>
          <a:ln/>
        </p:spPr>
        <p:txBody>
          <a:bodyPr wrap="none" lIns="0" tIns="0" rIns="0" bIns="85090" rtlCol="0" anchor="ctr">
            <a:spAutoFit/>
          </a:bodyPr>
          <a:lstStyle/>
          <a:p>
            <a:pPr indent="0" marL="0">
              <a:buNone/>
            </a:pPr>
            <a:r>
              <a:rPr lang="en-US" sz="2025" b="1" dirty="0">
                <a:solidFill>
                  <a:srgbClr val="4682B4"/>
                </a:solidFill>
                <a:latin typeface="Noto Sans" pitchFamily="34" charset="0"/>
                <a:ea typeface="Noto Sans" pitchFamily="34" charset="-122"/>
                <a:cs typeface="Noto Sans" pitchFamily="34" charset="-120"/>
              </a:rPr>
              <a:t>次のステップ</a:t>
            </a:r>
            <a:endParaRPr lang="en-US" sz="2025" dirty="0"/>
          </a:p>
        </p:txBody>
      </p:sp>
      <p:sp>
        <p:nvSpPr>
          <p:cNvPr id="4" name="Text 1"/>
          <p:cNvSpPr/>
          <p:nvPr/>
        </p:nvSpPr>
        <p:spPr>
          <a:xfrm>
            <a:off x="285750" y="957263"/>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プロジェクト進行ステップ</a:t>
            </a:r>
            <a:endParaRPr lang="en-US" sz="1350" dirty="0"/>
          </a:p>
        </p:txBody>
      </p:sp>
      <p:sp>
        <p:nvSpPr>
          <p:cNvPr id="5" name="Shape 2"/>
          <p:cNvSpPr/>
          <p:nvPr/>
        </p:nvSpPr>
        <p:spPr>
          <a:xfrm>
            <a:off x="285750" y="1321594"/>
            <a:ext cx="4114800" cy="3007519"/>
          </a:xfrm>
          <a:prstGeom prst="rect">
            <a:avLst/>
          </a:prstGeom>
          <a:solidFill>
            <a:srgbClr val="FFFFFF"/>
          </a:solidFill>
          <a:ln/>
        </p:spPr>
      </p:sp>
      <p:sp>
        <p:nvSpPr>
          <p:cNvPr id="6" name="Shape 3"/>
          <p:cNvSpPr/>
          <p:nvPr/>
        </p:nvSpPr>
        <p:spPr>
          <a:xfrm>
            <a:off x="428625" y="1464469"/>
            <a:ext cx="285750" cy="285750"/>
          </a:xfrm>
          <a:prstGeom prst="ellipse">
            <a:avLst/>
          </a:prstGeom>
          <a:solidFill>
            <a:srgbClr val="4682B4"/>
          </a:solidFill>
          <a:ln/>
        </p:spPr>
      </p:sp>
      <p:sp>
        <p:nvSpPr>
          <p:cNvPr id="7" name="Text 4"/>
          <p:cNvSpPr/>
          <p:nvPr/>
        </p:nvSpPr>
        <p:spPr>
          <a:xfrm>
            <a:off x="428625" y="1464469"/>
            <a:ext cx="285750" cy="285750"/>
          </a:xfrm>
          <a:prstGeom prst="rect">
            <a:avLst/>
          </a:prstGeom>
          <a:noFill/>
          <a:ln/>
        </p:spPr>
        <p:txBody>
          <a:bodyPr wrap="none" lIns="0" tIns="0" rIns="0" bIns="0" rtlCol="0" anchor="ctr">
            <a:spAutoFit/>
          </a:bodyPr>
          <a:lstStyle/>
          <a:p>
            <a:pPr algn="ctr" indent="0" marL="0">
              <a:buNone/>
            </a:pPr>
            <a:r>
              <a:rPr lang="en-US" sz="1046" b="1" dirty="0">
                <a:solidFill>
                  <a:srgbClr val="FFFFFF"/>
                </a:solidFill>
                <a:latin typeface="Noto Sans" pitchFamily="34" charset="0"/>
                <a:ea typeface="Noto Sans" pitchFamily="34" charset="-122"/>
                <a:cs typeface="Noto Sans" pitchFamily="34" charset="-120"/>
              </a:rPr>
              <a:t>1</a:t>
            </a:r>
            <a:endParaRPr lang="en-US" sz="1046" dirty="0"/>
          </a:p>
        </p:txBody>
      </p:sp>
      <p:sp>
        <p:nvSpPr>
          <p:cNvPr id="8" name="Text 5"/>
          <p:cNvSpPr/>
          <p:nvPr/>
        </p:nvSpPr>
        <p:spPr>
          <a:xfrm>
            <a:off x="821531" y="1464469"/>
            <a:ext cx="3436144" cy="214313"/>
          </a:xfrm>
          <a:prstGeom prst="rect">
            <a:avLst/>
          </a:prstGeom>
          <a:noFill/>
          <a:ln/>
        </p:spPr>
        <p:txBody>
          <a:bodyPr wrap="none" lIns="0" tIns="0" rIns="0" bIns="0" rtlCol="0" anchor="ctr">
            <a:spAutoFit/>
          </a:bodyPr>
          <a:lstStyle/>
          <a:p>
            <a:pPr indent="0" marL="0">
              <a:buNone/>
            </a:pPr>
            <a:r>
              <a:rPr lang="en-US" sz="1046" b="1" dirty="0">
                <a:solidFill>
                  <a:srgbClr val="333333"/>
                </a:solidFill>
                <a:latin typeface="Noto Sans" pitchFamily="34" charset="0"/>
                <a:ea typeface="Noto Sans" pitchFamily="34" charset="-122"/>
                <a:cs typeface="Noto Sans" pitchFamily="34" charset="-120"/>
              </a:rPr>
              <a:t>要件の詳細化</a:t>
            </a:r>
            <a:endParaRPr lang="en-US" sz="1046" dirty="0"/>
          </a:p>
        </p:txBody>
      </p:sp>
      <p:sp>
        <p:nvSpPr>
          <p:cNvPr id="9" name="Text 6"/>
          <p:cNvSpPr/>
          <p:nvPr/>
        </p:nvSpPr>
        <p:spPr>
          <a:xfrm>
            <a:off x="964406" y="1714500"/>
            <a:ext cx="3293269" cy="171450"/>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構成案の選定（法人中心型・ホーム個別重視型・ターゲット別）</a:t>
            </a:r>
            <a:endParaRPr lang="en-US" sz="837" dirty="0"/>
          </a:p>
        </p:txBody>
      </p:sp>
      <p:sp>
        <p:nvSpPr>
          <p:cNvPr id="10" name="Text 7"/>
          <p:cNvSpPr/>
          <p:nvPr/>
        </p:nvSpPr>
        <p:spPr>
          <a:xfrm>
            <a:off x="964406" y="1885950"/>
            <a:ext cx="3293269" cy="171450"/>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必要機能の確定</a:t>
            </a:r>
            <a:endParaRPr lang="en-US" sz="837" dirty="0"/>
          </a:p>
        </p:txBody>
      </p:sp>
      <p:sp>
        <p:nvSpPr>
          <p:cNvPr id="11" name="Text 8"/>
          <p:cNvSpPr/>
          <p:nvPr/>
        </p:nvSpPr>
        <p:spPr>
          <a:xfrm>
            <a:off x="964406" y="2057400"/>
            <a:ext cx="3293269" cy="171450"/>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コンテンツ計画の策定</a:t>
            </a:r>
            <a:endParaRPr lang="en-US" sz="837" dirty="0"/>
          </a:p>
        </p:txBody>
      </p:sp>
      <p:sp>
        <p:nvSpPr>
          <p:cNvPr id="12" name="Shape 9"/>
          <p:cNvSpPr/>
          <p:nvPr/>
        </p:nvSpPr>
        <p:spPr>
          <a:xfrm>
            <a:off x="428625" y="2371725"/>
            <a:ext cx="285750" cy="285750"/>
          </a:xfrm>
          <a:prstGeom prst="ellipse">
            <a:avLst/>
          </a:prstGeom>
          <a:solidFill>
            <a:srgbClr val="4682B4"/>
          </a:solidFill>
          <a:ln/>
        </p:spPr>
      </p:sp>
      <p:sp>
        <p:nvSpPr>
          <p:cNvPr id="13" name="Text 10"/>
          <p:cNvSpPr/>
          <p:nvPr/>
        </p:nvSpPr>
        <p:spPr>
          <a:xfrm>
            <a:off x="428625" y="2371725"/>
            <a:ext cx="285750" cy="285750"/>
          </a:xfrm>
          <a:prstGeom prst="rect">
            <a:avLst/>
          </a:prstGeom>
          <a:noFill/>
          <a:ln/>
        </p:spPr>
        <p:txBody>
          <a:bodyPr wrap="none" lIns="0" tIns="0" rIns="0" bIns="0" rtlCol="0" anchor="ctr">
            <a:spAutoFit/>
          </a:bodyPr>
          <a:lstStyle/>
          <a:p>
            <a:pPr algn="ctr" indent="0" marL="0">
              <a:buNone/>
            </a:pPr>
            <a:r>
              <a:rPr lang="en-US" sz="1046" b="1" dirty="0">
                <a:solidFill>
                  <a:srgbClr val="FFFFFF"/>
                </a:solidFill>
                <a:latin typeface="Noto Sans" pitchFamily="34" charset="0"/>
                <a:ea typeface="Noto Sans" pitchFamily="34" charset="-122"/>
                <a:cs typeface="Noto Sans" pitchFamily="34" charset="-120"/>
              </a:rPr>
              <a:t>2</a:t>
            </a:r>
            <a:endParaRPr lang="en-US" sz="1046" dirty="0"/>
          </a:p>
        </p:txBody>
      </p:sp>
      <p:sp>
        <p:nvSpPr>
          <p:cNvPr id="14" name="Text 11"/>
          <p:cNvSpPr/>
          <p:nvPr/>
        </p:nvSpPr>
        <p:spPr>
          <a:xfrm>
            <a:off x="821531" y="2371725"/>
            <a:ext cx="3436144" cy="214313"/>
          </a:xfrm>
          <a:prstGeom prst="rect">
            <a:avLst/>
          </a:prstGeom>
          <a:noFill/>
          <a:ln/>
        </p:spPr>
        <p:txBody>
          <a:bodyPr wrap="none" lIns="0" tIns="0" rIns="0" bIns="0" rtlCol="0" anchor="ctr">
            <a:spAutoFit/>
          </a:bodyPr>
          <a:lstStyle/>
          <a:p>
            <a:pPr indent="0" marL="0">
              <a:buNone/>
            </a:pPr>
            <a:r>
              <a:rPr lang="en-US" sz="1046" b="1" dirty="0">
                <a:solidFill>
                  <a:srgbClr val="333333"/>
                </a:solidFill>
                <a:latin typeface="Noto Sans" pitchFamily="34" charset="0"/>
                <a:ea typeface="Noto Sans" pitchFamily="34" charset="-122"/>
                <a:cs typeface="Noto Sans" pitchFamily="34" charset="-120"/>
              </a:rPr>
              <a:t>契約・プロジェクト開始</a:t>
            </a:r>
            <a:endParaRPr lang="en-US" sz="1046" dirty="0"/>
          </a:p>
        </p:txBody>
      </p:sp>
      <p:sp>
        <p:nvSpPr>
          <p:cNvPr id="15" name="Text 12"/>
          <p:cNvSpPr/>
          <p:nvPr/>
        </p:nvSpPr>
        <p:spPr>
          <a:xfrm>
            <a:off x="964406" y="2621756"/>
            <a:ext cx="3293269" cy="171450"/>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契約内容の確定</a:t>
            </a:r>
            <a:endParaRPr lang="en-US" sz="837" dirty="0"/>
          </a:p>
        </p:txBody>
      </p:sp>
      <p:sp>
        <p:nvSpPr>
          <p:cNvPr id="16" name="Text 13"/>
          <p:cNvSpPr/>
          <p:nvPr/>
        </p:nvSpPr>
        <p:spPr>
          <a:xfrm>
            <a:off x="964406" y="2793206"/>
            <a:ext cx="3293269" cy="171450"/>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プロジェクトチームの編成</a:t>
            </a:r>
            <a:endParaRPr lang="en-US" sz="837" dirty="0"/>
          </a:p>
        </p:txBody>
      </p:sp>
      <p:sp>
        <p:nvSpPr>
          <p:cNvPr id="17" name="Text 14"/>
          <p:cNvSpPr/>
          <p:nvPr/>
        </p:nvSpPr>
        <p:spPr>
          <a:xfrm>
            <a:off x="964406" y="2964656"/>
            <a:ext cx="3293269" cy="171450"/>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キックオフミーティング</a:t>
            </a:r>
            <a:endParaRPr lang="en-US" sz="837" dirty="0"/>
          </a:p>
        </p:txBody>
      </p:sp>
      <p:sp>
        <p:nvSpPr>
          <p:cNvPr id="18" name="Shape 15"/>
          <p:cNvSpPr/>
          <p:nvPr/>
        </p:nvSpPr>
        <p:spPr>
          <a:xfrm>
            <a:off x="428625" y="3278981"/>
            <a:ext cx="285750" cy="285750"/>
          </a:xfrm>
          <a:prstGeom prst="ellipse">
            <a:avLst/>
          </a:prstGeom>
          <a:solidFill>
            <a:srgbClr val="4682B4"/>
          </a:solidFill>
          <a:ln/>
        </p:spPr>
      </p:sp>
      <p:sp>
        <p:nvSpPr>
          <p:cNvPr id="19" name="Text 16"/>
          <p:cNvSpPr/>
          <p:nvPr/>
        </p:nvSpPr>
        <p:spPr>
          <a:xfrm>
            <a:off x="428625" y="3278981"/>
            <a:ext cx="285750" cy="285750"/>
          </a:xfrm>
          <a:prstGeom prst="rect">
            <a:avLst/>
          </a:prstGeom>
          <a:noFill/>
          <a:ln/>
        </p:spPr>
        <p:txBody>
          <a:bodyPr wrap="none" lIns="0" tIns="0" rIns="0" bIns="0" rtlCol="0" anchor="ctr">
            <a:spAutoFit/>
          </a:bodyPr>
          <a:lstStyle/>
          <a:p>
            <a:pPr algn="ctr" indent="0" marL="0">
              <a:buNone/>
            </a:pPr>
            <a:r>
              <a:rPr lang="en-US" sz="1046" b="1" dirty="0">
                <a:solidFill>
                  <a:srgbClr val="FFFFFF"/>
                </a:solidFill>
                <a:latin typeface="Noto Sans" pitchFamily="34" charset="0"/>
                <a:ea typeface="Noto Sans" pitchFamily="34" charset="-122"/>
                <a:cs typeface="Noto Sans" pitchFamily="34" charset="-120"/>
              </a:rPr>
              <a:t>3</a:t>
            </a:r>
            <a:endParaRPr lang="en-US" sz="1046" dirty="0"/>
          </a:p>
        </p:txBody>
      </p:sp>
      <p:sp>
        <p:nvSpPr>
          <p:cNvPr id="20" name="Text 17"/>
          <p:cNvSpPr/>
          <p:nvPr/>
        </p:nvSpPr>
        <p:spPr>
          <a:xfrm>
            <a:off x="821531" y="3278981"/>
            <a:ext cx="3436144" cy="214313"/>
          </a:xfrm>
          <a:prstGeom prst="rect">
            <a:avLst/>
          </a:prstGeom>
          <a:noFill/>
          <a:ln/>
        </p:spPr>
        <p:txBody>
          <a:bodyPr wrap="none" lIns="0" tIns="0" rIns="0" bIns="0" rtlCol="0" anchor="ctr">
            <a:spAutoFit/>
          </a:bodyPr>
          <a:lstStyle/>
          <a:p>
            <a:pPr indent="0" marL="0">
              <a:buNone/>
            </a:pPr>
            <a:r>
              <a:rPr lang="en-US" sz="1046" b="1" dirty="0">
                <a:solidFill>
                  <a:srgbClr val="333333"/>
                </a:solidFill>
                <a:latin typeface="Noto Sans" pitchFamily="34" charset="0"/>
                <a:ea typeface="Noto Sans" pitchFamily="34" charset="-122"/>
                <a:cs typeface="Noto Sans" pitchFamily="34" charset="-120"/>
              </a:rPr>
              <a:t>デザイン・開発フェーズ</a:t>
            </a:r>
            <a:endParaRPr lang="en-US" sz="1046" dirty="0"/>
          </a:p>
        </p:txBody>
      </p:sp>
      <p:sp>
        <p:nvSpPr>
          <p:cNvPr id="21" name="Text 18"/>
          <p:cNvSpPr/>
          <p:nvPr/>
        </p:nvSpPr>
        <p:spPr>
          <a:xfrm>
            <a:off x="964406" y="3529013"/>
            <a:ext cx="3293269" cy="171450"/>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デザインカンプの作成・承認</a:t>
            </a:r>
            <a:endParaRPr lang="en-US" sz="837" dirty="0"/>
          </a:p>
        </p:txBody>
      </p:sp>
      <p:sp>
        <p:nvSpPr>
          <p:cNvPr id="22" name="Text 19"/>
          <p:cNvSpPr/>
          <p:nvPr/>
        </p:nvSpPr>
        <p:spPr>
          <a:xfrm>
            <a:off x="964406" y="3700463"/>
            <a:ext cx="3293269" cy="171450"/>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開発作業の開始</a:t>
            </a:r>
            <a:endParaRPr lang="en-US" sz="837" dirty="0"/>
          </a:p>
        </p:txBody>
      </p:sp>
      <p:sp>
        <p:nvSpPr>
          <p:cNvPr id="23" name="Text 20"/>
          <p:cNvSpPr/>
          <p:nvPr/>
        </p:nvSpPr>
        <p:spPr>
          <a:xfrm>
            <a:off x="964406" y="3871913"/>
            <a:ext cx="3293269" cy="171450"/>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定期的な進捗報告</a:t>
            </a:r>
            <a:endParaRPr lang="en-US" sz="837" dirty="0"/>
          </a:p>
        </p:txBody>
      </p:sp>
      <p:sp>
        <p:nvSpPr>
          <p:cNvPr id="24" name="Shape 21"/>
          <p:cNvSpPr/>
          <p:nvPr/>
        </p:nvSpPr>
        <p:spPr>
          <a:xfrm>
            <a:off x="285750" y="4471988"/>
            <a:ext cx="4114800" cy="1543050"/>
          </a:xfrm>
          <a:prstGeom prst="rect">
            <a:avLst/>
          </a:prstGeom>
          <a:solidFill>
            <a:srgbClr val="FFFFFF"/>
          </a:solidFill>
          <a:ln/>
        </p:spPr>
      </p:sp>
      <p:sp>
        <p:nvSpPr>
          <p:cNvPr id="25" name="Text 22"/>
          <p:cNvSpPr/>
          <p:nvPr/>
        </p:nvSpPr>
        <p:spPr>
          <a:xfrm>
            <a:off x="428625" y="4614863"/>
            <a:ext cx="3829050" cy="214313"/>
          </a:xfrm>
          <a:prstGeom prst="rect">
            <a:avLst/>
          </a:prstGeom>
          <a:noFill/>
          <a:ln/>
        </p:spPr>
        <p:txBody>
          <a:bodyPr wrap="none" lIns="0" tIns="0" rIns="0" bIns="0" rtlCol="0" anchor="ctr">
            <a:spAutoFit/>
          </a:bodyPr>
          <a:lstStyle/>
          <a:p>
            <a:pPr indent="0" marL="0">
              <a:buNone/>
            </a:pPr>
            <a:r>
              <a:rPr lang="en-US" sz="1046" b="1" dirty="0">
                <a:solidFill>
                  <a:srgbClr val="4682B4"/>
                </a:solidFill>
                <a:latin typeface="Noto Sans" pitchFamily="34" charset="0"/>
                <a:ea typeface="Noto Sans" pitchFamily="34" charset="-122"/>
                <a:cs typeface="Noto Sans" pitchFamily="34" charset="-120"/>
              </a:rPr>
              <a:t>お問い合わせ</a:t>
            </a:r>
            <a:endParaRPr lang="en-US" sz="1046" dirty="0"/>
          </a:p>
        </p:txBody>
      </p:sp>
      <p:sp>
        <p:nvSpPr>
          <p:cNvPr id="26" name="Text 23"/>
          <p:cNvSpPr/>
          <p:nvPr/>
        </p:nvSpPr>
        <p:spPr>
          <a:xfrm>
            <a:off x="428625" y="4900613"/>
            <a:ext cx="3829050" cy="171450"/>
          </a:xfrm>
          <a:prstGeom prst="rect">
            <a:avLst/>
          </a:prstGeom>
          <a:noFill/>
          <a:ln/>
        </p:spPr>
        <p:txBody>
          <a:bodyPr wrap="non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ご不明点やご要望がございましたら、お気軽にお問い合わせください。</a:t>
            </a:r>
            <a:endParaRPr lang="en-US" sz="837" dirty="0"/>
          </a:p>
        </p:txBody>
      </p:sp>
      <p:pic>
        <p:nvPicPr>
          <p:cNvPr id="27" name="Image 1" descr="preencoded.png">    </p:cNvPr>
          <p:cNvPicPr>
            <a:picLocks noChangeAspect="1"/>
          </p:cNvPicPr>
          <p:nvPr/>
        </p:nvPicPr>
        <p:blipFill>
          <a:blip r:embed="rId2"/>
          <a:stretch>
            <a:fillRect/>
          </a:stretch>
        </p:blipFill>
        <p:spPr>
          <a:xfrm>
            <a:off x="428625" y="5257800"/>
            <a:ext cx="171450" cy="171450"/>
          </a:xfrm>
          <a:prstGeom prst="rect">
            <a:avLst/>
          </a:prstGeom>
        </p:spPr>
      </p:pic>
      <p:sp>
        <p:nvSpPr>
          <p:cNvPr id="28" name="Text 24"/>
          <p:cNvSpPr/>
          <p:nvPr/>
        </p:nvSpPr>
        <p:spPr>
          <a:xfrm>
            <a:off x="671513" y="5257800"/>
            <a:ext cx="1451856"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メール: info@example.com</a:t>
            </a:r>
            <a:endParaRPr lang="en-US" sz="837" dirty="0"/>
          </a:p>
        </p:txBody>
      </p:sp>
      <p:pic>
        <p:nvPicPr>
          <p:cNvPr id="29" name="Image 2" descr="preencoded.png">    </p:cNvPr>
          <p:cNvPicPr>
            <a:picLocks noChangeAspect="1"/>
          </p:cNvPicPr>
          <p:nvPr/>
        </p:nvPicPr>
        <p:blipFill>
          <a:blip r:embed="rId3"/>
          <a:stretch>
            <a:fillRect/>
          </a:stretch>
        </p:blipFill>
        <p:spPr>
          <a:xfrm>
            <a:off x="428625" y="5657850"/>
            <a:ext cx="171450" cy="171450"/>
          </a:xfrm>
          <a:prstGeom prst="rect">
            <a:avLst/>
          </a:prstGeom>
        </p:spPr>
      </p:pic>
      <p:sp>
        <p:nvSpPr>
          <p:cNvPr id="30" name="Text 25"/>
          <p:cNvSpPr/>
          <p:nvPr/>
        </p:nvSpPr>
        <p:spPr>
          <a:xfrm>
            <a:off x="671513" y="5657850"/>
            <a:ext cx="1047341" cy="171450"/>
          </a:xfrm>
          <a:prstGeom prst="rect">
            <a:avLst/>
          </a:prstGeom>
          <a:noFill/>
          <a:ln/>
        </p:spPr>
        <p:txBody>
          <a:bodyPr wrap="none" lIns="0" tIns="0" rIns="0" bIns="0" rtlCol="0" anchor="ctr">
            <a:spAutoFit/>
          </a:bodyPr>
          <a:lstStyle/>
          <a:p>
            <a:pPr indent="0" marL="0">
              <a:buNone/>
            </a:pPr>
            <a:r>
              <a:rPr lang="en-US" sz="837" b="1" dirty="0">
                <a:solidFill>
                  <a:srgbClr val="333333"/>
                </a:solidFill>
                <a:latin typeface="Noto Sans" pitchFamily="34" charset="0"/>
                <a:ea typeface="Noto Sans" pitchFamily="34" charset="-122"/>
                <a:cs typeface="Noto Sans" pitchFamily="34" charset="-120"/>
              </a:rPr>
              <a:t>電話: 092-XXX-XXXX</a:t>
            </a:r>
            <a:endParaRPr lang="en-US" sz="837" dirty="0"/>
          </a:p>
        </p:txBody>
      </p:sp>
      <p:sp>
        <p:nvSpPr>
          <p:cNvPr id="31" name="Text 26"/>
          <p:cNvSpPr/>
          <p:nvPr/>
        </p:nvSpPr>
        <p:spPr>
          <a:xfrm>
            <a:off x="4743450" y="957263"/>
            <a:ext cx="4114800" cy="257175"/>
          </a:xfrm>
          <a:prstGeom prst="rect">
            <a:avLst/>
          </a:prstGeom>
          <a:noFill/>
          <a:ln/>
        </p:spPr>
        <p:txBody>
          <a:bodyPr wrap="none" lIns="0" tIns="0" rIns="0" bIns="0" rtlCol="0" anchor="ctr">
            <a:spAutoFit/>
          </a:bodyPr>
          <a:lstStyle/>
          <a:p>
            <a:pPr indent="0" marL="0">
              <a:buNone/>
            </a:pPr>
            <a:r>
              <a:rPr lang="en-US" sz="1350" b="1" dirty="0">
                <a:solidFill>
                  <a:srgbClr val="4682B4"/>
                </a:solidFill>
                <a:latin typeface="Noto Sans" pitchFamily="34" charset="0"/>
                <a:ea typeface="Noto Sans" pitchFamily="34" charset="-122"/>
                <a:cs typeface="Noto Sans" pitchFamily="34" charset="-120"/>
              </a:rPr>
              <a:t>実装スケジュール</a:t>
            </a:r>
            <a:endParaRPr lang="en-US" sz="1350" dirty="0"/>
          </a:p>
        </p:txBody>
      </p:sp>
      <p:sp>
        <p:nvSpPr>
          <p:cNvPr id="32" name="Shape 27"/>
          <p:cNvSpPr/>
          <p:nvPr/>
        </p:nvSpPr>
        <p:spPr>
          <a:xfrm>
            <a:off x="4743450" y="1321594"/>
            <a:ext cx="4114800" cy="2857500"/>
          </a:xfrm>
          <a:prstGeom prst="rect">
            <a:avLst/>
          </a:prstGeom>
          <a:solidFill>
            <a:srgbClr val="FFFFFF"/>
          </a:solidFill>
          <a:ln/>
        </p:spPr>
      </p:sp>
      <p:pic>
        <p:nvPicPr>
          <p:cNvPr id="33" name="Image 3" descr="preencoded.png">    </p:cNvPr>
          <p:cNvPicPr>
            <a:picLocks noChangeAspect="1"/>
          </p:cNvPicPr>
          <p:nvPr/>
        </p:nvPicPr>
        <p:blipFill>
          <a:blip r:embed="rId4"/>
          <a:stretch>
            <a:fillRect/>
          </a:stretch>
        </p:blipFill>
        <p:spPr>
          <a:xfrm>
            <a:off x="4886325" y="1464469"/>
            <a:ext cx="3829050" cy="2500313"/>
          </a:xfrm>
          <a:prstGeom prst="rect">
            <a:avLst/>
          </a:prstGeom>
        </p:spPr>
      </p:pic>
      <p:sp>
        <p:nvSpPr>
          <p:cNvPr id="34" name="Shape 28"/>
          <p:cNvSpPr/>
          <p:nvPr/>
        </p:nvSpPr>
        <p:spPr>
          <a:xfrm>
            <a:off x="4743450" y="4321969"/>
            <a:ext cx="4114800" cy="1914525"/>
          </a:xfrm>
          <a:prstGeom prst="rect">
            <a:avLst/>
          </a:prstGeom>
          <a:solidFill>
            <a:srgbClr val="FFFFFF"/>
          </a:solidFill>
          <a:ln/>
        </p:spPr>
      </p:sp>
      <p:sp>
        <p:nvSpPr>
          <p:cNvPr id="35" name="Text 29"/>
          <p:cNvSpPr/>
          <p:nvPr/>
        </p:nvSpPr>
        <p:spPr>
          <a:xfrm>
            <a:off x="4886325" y="4464844"/>
            <a:ext cx="3829050" cy="214313"/>
          </a:xfrm>
          <a:prstGeom prst="rect">
            <a:avLst/>
          </a:prstGeom>
          <a:noFill/>
          <a:ln/>
        </p:spPr>
        <p:txBody>
          <a:bodyPr wrap="none" lIns="0" tIns="0" rIns="0" bIns="0" rtlCol="0" anchor="ctr">
            <a:spAutoFit/>
          </a:bodyPr>
          <a:lstStyle/>
          <a:p>
            <a:pPr indent="0" marL="0">
              <a:buNone/>
            </a:pPr>
            <a:r>
              <a:rPr lang="en-US" sz="1046" b="1" dirty="0">
                <a:solidFill>
                  <a:srgbClr val="4682B4"/>
                </a:solidFill>
                <a:latin typeface="Noto Sans" pitchFamily="34" charset="0"/>
                <a:ea typeface="Noto Sans" pitchFamily="34" charset="-122"/>
                <a:cs typeface="Noto Sans" pitchFamily="34" charset="-120"/>
              </a:rPr>
              <a:t>期待される成果</a:t>
            </a:r>
            <a:endParaRPr lang="en-US" sz="1046" dirty="0"/>
          </a:p>
        </p:txBody>
      </p:sp>
      <p:sp>
        <p:nvSpPr>
          <p:cNvPr id="36" name="Text 30"/>
          <p:cNvSpPr/>
          <p:nvPr/>
        </p:nvSpPr>
        <p:spPr>
          <a:xfrm>
            <a:off x="4886325" y="4750594"/>
            <a:ext cx="3829050" cy="342900"/>
          </a:xfrm>
          <a:prstGeom prst="rect">
            <a:avLst/>
          </a:prstGeom>
          <a:noFill/>
          <a:ln/>
        </p:spPr>
        <p:txBody>
          <a:bodyPr wrap="square" lIns="0" tIns="0" rIns="0" bIns="0" rtlCol="0" anchor="ctr">
            <a:spAutoFit/>
          </a:bodyPr>
          <a:lstStyle/>
          <a:p>
            <a:pPr indent="0" marL="0">
              <a:buNone/>
            </a:pPr>
            <a:r>
              <a:rPr lang="en-US" sz="837" dirty="0">
                <a:solidFill>
                  <a:srgbClr val="333333"/>
                </a:solidFill>
                <a:latin typeface="Noto Sans" pitchFamily="34" charset="0"/>
                <a:ea typeface="Noto Sans" pitchFamily="34" charset="-122"/>
                <a:cs typeface="Noto Sans" pitchFamily="34" charset="-120"/>
              </a:rPr>
              <a:t>本プロジェクトにより、貴法人の活動がより多くの方に伝わり、支援の輪が広がることを期待しています。</a:t>
            </a:r>
            <a:endParaRPr lang="en-US" sz="837" dirty="0"/>
          </a:p>
        </p:txBody>
      </p:sp>
      <p:sp>
        <p:nvSpPr>
          <p:cNvPr id="37" name="Text 31"/>
          <p:cNvSpPr/>
          <p:nvPr/>
        </p:nvSpPr>
        <p:spPr>
          <a:xfrm>
            <a:off x="5029200" y="5186363"/>
            <a:ext cx="342900"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法人の</a:t>
            </a:r>
            <a:endParaRPr lang="en-US" sz="837" dirty="0"/>
          </a:p>
        </p:txBody>
      </p:sp>
      <p:sp>
        <p:nvSpPr>
          <p:cNvPr id="38" name="Text 32"/>
          <p:cNvSpPr/>
          <p:nvPr/>
        </p:nvSpPr>
        <p:spPr>
          <a:xfrm>
            <a:off x="5372100" y="5186363"/>
            <a:ext cx="1069414"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認知度・信頼性の向上</a:t>
            </a:r>
            <a:endParaRPr lang="en-US" sz="837" dirty="0"/>
          </a:p>
        </p:txBody>
      </p:sp>
      <p:sp>
        <p:nvSpPr>
          <p:cNvPr id="39" name="Text 33"/>
          <p:cNvSpPr/>
          <p:nvPr/>
        </p:nvSpPr>
        <p:spPr>
          <a:xfrm>
            <a:off x="5029200" y="5414963"/>
            <a:ext cx="724672"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支援者・寄付の</a:t>
            </a:r>
            <a:endParaRPr lang="en-US" sz="837" dirty="0"/>
          </a:p>
        </p:txBody>
      </p:sp>
      <p:sp>
        <p:nvSpPr>
          <p:cNvPr id="40" name="Text 34"/>
          <p:cNvSpPr/>
          <p:nvPr/>
        </p:nvSpPr>
        <p:spPr>
          <a:xfrm>
            <a:off x="5753872" y="5414963"/>
            <a:ext cx="22860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増加</a:t>
            </a:r>
            <a:endParaRPr lang="en-US" sz="837" dirty="0"/>
          </a:p>
        </p:txBody>
      </p:sp>
      <p:sp>
        <p:nvSpPr>
          <p:cNvPr id="41" name="Text 35"/>
          <p:cNvSpPr/>
          <p:nvPr/>
        </p:nvSpPr>
        <p:spPr>
          <a:xfrm>
            <a:off x="5029200" y="5643563"/>
            <a:ext cx="342900"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優秀な</a:t>
            </a:r>
            <a:endParaRPr lang="en-US" sz="837" dirty="0"/>
          </a:p>
        </p:txBody>
      </p:sp>
      <p:sp>
        <p:nvSpPr>
          <p:cNvPr id="42" name="Text 36"/>
          <p:cNvSpPr/>
          <p:nvPr/>
        </p:nvSpPr>
        <p:spPr>
          <a:xfrm>
            <a:off x="5372100" y="5643563"/>
            <a:ext cx="57150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人材の確保</a:t>
            </a:r>
            <a:endParaRPr lang="en-US" sz="837" dirty="0"/>
          </a:p>
        </p:txBody>
      </p:sp>
      <p:sp>
        <p:nvSpPr>
          <p:cNvPr id="43" name="Text 37"/>
          <p:cNvSpPr/>
          <p:nvPr/>
        </p:nvSpPr>
        <p:spPr>
          <a:xfrm>
            <a:off x="5029200" y="5872163"/>
            <a:ext cx="571500" cy="155377"/>
          </a:xfrm>
          <a:prstGeom prst="rect">
            <a:avLst/>
          </a:prstGeom>
          <a:noFill/>
          <a:ln/>
        </p:spPr>
        <p:txBody>
          <a:bodyPr wrap="none" lIns="0" tIns="0" rIns="0" bIns="0" rtlCol="0" anchor="ctr">
            <a:spAutoFit/>
          </a:bodyPr>
          <a:lstStyle/>
          <a:p>
            <a:pPr algn="l" indent="0" marL="0">
              <a:buNone/>
            </a:pPr>
            <a:r>
              <a:rPr lang="en-US" sz="837" dirty="0">
                <a:solidFill>
                  <a:srgbClr val="333333"/>
                </a:solidFill>
                <a:latin typeface="Noto Sans" pitchFamily="34" charset="0"/>
                <a:ea typeface="Noto Sans" pitchFamily="34" charset="-122"/>
                <a:cs typeface="Noto Sans" pitchFamily="34" charset="-120"/>
              </a:rPr>
              <a:t>情報発信の</a:t>
            </a:r>
            <a:endParaRPr lang="en-US" sz="837" dirty="0"/>
          </a:p>
        </p:txBody>
      </p:sp>
      <p:sp>
        <p:nvSpPr>
          <p:cNvPr id="44" name="Text 38"/>
          <p:cNvSpPr/>
          <p:nvPr/>
        </p:nvSpPr>
        <p:spPr>
          <a:xfrm>
            <a:off x="5600700" y="5872163"/>
            <a:ext cx="342900" cy="155377"/>
          </a:xfrm>
          <a:prstGeom prst="rect">
            <a:avLst/>
          </a:prstGeom>
          <a:noFill/>
          <a:ln/>
        </p:spPr>
        <p:txBody>
          <a:bodyPr wrap="none" lIns="0" tIns="0" rIns="0" bIns="0" rtlCol="0" anchor="ctr">
            <a:spAutoFit/>
          </a:bodyPr>
          <a:lstStyle/>
          <a:p>
            <a:pPr algn="l" indent="0" marL="0">
              <a:buNone/>
            </a:pPr>
            <a:r>
              <a:rPr lang="en-US" sz="837" b="1" dirty="0">
                <a:solidFill>
                  <a:srgbClr val="FF6347"/>
                </a:solidFill>
                <a:latin typeface="Noto Sans" pitchFamily="34" charset="0"/>
                <a:ea typeface="Noto Sans" pitchFamily="34" charset="-122"/>
                <a:cs typeface="Noto Sans" pitchFamily="34" charset="-120"/>
              </a:rPr>
              <a:t>効率化</a:t>
            </a:r>
            <a:endParaRPr lang="en-US" sz="83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2025-07-24T00:20:03Z</dcterms:created>
  <dcterms:modified xsi:type="dcterms:W3CDTF">2025-07-24T00:20:03Z</dcterms:modified>
</cp:coreProperties>
</file>